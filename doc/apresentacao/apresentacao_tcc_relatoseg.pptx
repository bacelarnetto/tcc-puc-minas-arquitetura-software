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Olá, banca examinadora da PUC Minas! Meu nome é José Ribamar Bacelar Netto. Apresento hoje a defesa do meu Projeto Integrado de TCC intitulado RelatoSeg. Este trabalho desenvolve uma arquitetura de referência distribuída multi-domínio para orquestração de agentes de inteligência artificial baseada no protocolo MCP (Model Context Protocol). Para materializar a tese, aplicamos a arquitetura ao domínio prático da geração automatizada de relatórios de análise de sinistros de seguros, demonstrando reuso e conformidade com os rigorosos prazos regulatórios da SUSEP.</a:t>
            </a:r>
            <a:endParaRPr/>
          </a:p>
        </p:txBody>
      </p:sp>
      <p:sp>
        <p:nvSpPr>
          <p:cNvPr id="84" name="Google Shape;84;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f723461152_0_1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f723461152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 setor securitário, a agilidade no processamento de sinistros não é apenas diferencial competitivo, mas obrigação legal. Pela Circular SUSEP 621, a seguradora tem no máximo 30 dias corridos para concluir a regulação. Hoje, o processo é manual e ineficiente porque os dados estão isolados em silos heterogêneos. Embora 80% das seguradoras brasileiras usem IA, a principal barreira técnica, citada por 69%, é a integração com sistemas legados. O RelatoSeg surge para resolver esse problema não apenas para sinistros, mas estabelecendo uma arquitetura de referência reutilizável para que outras áreas da seguradora também automatizem relatórios complexos com agentes de IA sem reinventar a roda.</a:t>
            </a:r>
            <a:endParaRPr/>
          </a:p>
        </p:txBody>
      </p:sp>
      <p:sp>
        <p:nvSpPr>
          <p:cNvPr id="100" name="Google Shape;100;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723461152_0_2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f723461152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71373dc4b_50_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g3f71373dc4b_50_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 setor securitário, a agilidade no processamento de sinistros não é apenas diferencial competitivo, mas obrigação legal. Pela Circular SUSEP 621, a seguradora tem no máximo 30 dias corridos para concluir a regulação. Hoje, o processo é manual e ineficiente porque os dados estão isolados em silos heterogêneos. Embora 80% das seguradoras brasileiras usem IA, a principal barreira técnica, citada por 69%, é a integração com sistemas legados. O RelatoSeg surge para resolver esse problema não apenas para sinistros, mas estabelecendo uma arquitetura de referência reutilizável para que outras áreas da seguradora também automatizem relatórios complexos com agentes de IA sem reinventar a roda.</a:t>
            </a:r>
            <a:endParaRPr/>
          </a:p>
        </p:txBody>
      </p:sp>
      <p:sp>
        <p:nvSpPr>
          <p:cNvPr id="125" name="Google Shape;125;g3f71373dc4b_50_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723461152_0_2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f723461152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71373dc4b_50_5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g3f71373dc4b_50_5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 setor securitário, a agilidade no processamento de sinistros não é apenas diferencial competitivo, mas obrigação legal. Pela Circular SUSEP 621, a seguradora tem no máximo 30 dias corridos para concluir a regulação. Hoje, o processo é manual e ineficiente porque os dados estão isolados em silos heterogêneos. Embora 80% das seguradoras brasileiras usem IA, a principal barreira técnica, citada por 69%, é a integração com sistemas legados. O RelatoSeg surge para resolver esse problema não apenas para sinistros, mas estabelecendo uma arquitetura de referência reutilizável para que outras áreas da seguradora também automatizem relatórios complexos com agentes de IA sem reinventar a roda.</a:t>
            </a:r>
            <a:endParaRPr/>
          </a:p>
        </p:txBody>
      </p:sp>
      <p:sp>
        <p:nvSpPr>
          <p:cNvPr id="165" name="Google Shape;165;g3f71373dc4b_50_5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71373dc4b_50_59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g3f71373dc4b_50_59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 setor securitário, a agilidade no processamento de sinistros não é apenas diferencial competitivo, mas obrigação legal. Pela Circular SUSEP 621, a seguradora tem no máximo 30 dias corridos para concluir a regulação. Hoje, o processo é manual e ineficiente porque os dados estão isolados em silos heterogêneos. Embora 80% das seguradoras brasileiras usem IA, a principal barreira técnica, citada por 69%, é a integração com sistemas legados. O RelatoSeg surge para resolver esse problema não apenas para sinistros, mas estabelecendo uma arquitetura de referência reutilizável para que outras áreas da seguradora também automatizem relatórios complexos com agentes de IA sem reinventar a roda.</a:t>
            </a:r>
            <a:endParaRPr/>
          </a:p>
        </p:txBody>
      </p:sp>
      <p:sp>
        <p:nvSpPr>
          <p:cNvPr id="202" name="Google Shape;202;g3f71373dc4b_50_59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f723461152_0_2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f723461152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f71373dc4b_50_65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 name="Google Shape;236;g3f71373dc4b_50_65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 setor securitário, a agilidade no processamento de sinistros não é apenas diferencial competitivo, mas obrigação legal. Pela Circular SUSEP 621, a seguradora tem no máximo 30 dias corridos para concluir a regulação. Hoje, o processo é manual e ineficiente porque os dados estão isolados em silos heterogêneos. Embora 80% das seguradoras brasileiras usem IA, a principal barreira técnica, citada por 69%, é a integração com sistemas legados. O RelatoSeg surge para resolver esse problema não apenas para sinistros, mas estabelecendo uma arquitetura de referência reutilizável para que outras áreas da seguradora também automatizem relatórios complexos com agentes de IA sem reinventar a roda.</a:t>
            </a:r>
            <a:endParaRPr/>
          </a:p>
        </p:txBody>
      </p:sp>
      <p:sp>
        <p:nvSpPr>
          <p:cNvPr id="237" name="Google Shape;237;g3f71373dc4b_50_65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71373dc4b_50_7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g3f71373dc4b_50_7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 setor securitário, a agilidade no processamento de sinistros não é apenas diferencial competitivo, mas obrigação legal. Pela Circular SUSEP 621, a seguradora tem no máximo 30 dias corridos para concluir a regulação. Hoje, o processo é manual e ineficiente porque os dados estão isolados em silos heterogêneos. Embora 80% das seguradoras brasileiras usem IA, a principal barreira técnica, citada por 69%, é a integração com sistemas legados. O RelatoSeg surge para resolver esse problema não apenas para sinistros, mas estabelecendo uma arquitetura de referência reutilizável para que outras áreas da seguradora também automatizem relatórios complexos com agentes de IA sem reinventar a roda.</a:t>
            </a:r>
            <a:endParaRPr/>
          </a:p>
        </p:txBody>
      </p:sp>
      <p:sp>
        <p:nvSpPr>
          <p:cNvPr id="265" name="Google Shape;265;g3f71373dc4b_50_7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f723461152_0_8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f723461152_0_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f72562292a_36_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8" name="Google Shape;318;g3f72562292a_36_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 setor securitário, a agilidade no processamento de sinistros não é apenas diferencial competitivo, mas obrigação legal. Pela Circular SUSEP 621, a seguradora tem no máximo 30 dias corridos para concluir a regulação. Hoje, o processo é manual e ineficiente porque os dados estão isolados em silos heterogêneos. Embora 80% das seguradoras brasileiras usem IA, a principal barreira técnica, citada por 69%, é a integração com sistemas legados. O RelatoSeg surge para resolver esse problema não apenas para sinistros, mas estabelecendo uma arquitetura de referência reutilizável para que outras áreas da seguradora também automatizem relatórios complexos com agentes de IA sem reinventar a roda.</a:t>
            </a:r>
            <a:endParaRPr/>
          </a:p>
        </p:txBody>
      </p:sp>
      <p:sp>
        <p:nvSpPr>
          <p:cNvPr id="319" name="Google Shape;319;g3f72562292a_36_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f72562292a_36_8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 name="Google Shape;342;g3f72562292a_36_8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 setor securitário, a agilidade no processamento de sinistros não é apenas diferencial competitivo, mas obrigação legal. Pela Circular SUSEP 621, a seguradora tem no máximo 30 dias corridos para concluir a regulação. Hoje, o processo é manual e ineficiente porque os dados estão isolados em silos heterogêneos. Embora 80% das seguradoras brasileiras usem IA, a principal barreira técnica, citada por 69%, é a integração com sistemas legados. O RelatoSeg surge para resolver esse problema não apenas para sinistros, mas estabelecendo uma arquitetura de referência reutilizável para que outras áreas da seguradora também automatizem relatórios complexos com agentes de IA sem reinventar a roda.</a:t>
            </a:r>
            <a:endParaRPr/>
          </a:p>
        </p:txBody>
      </p:sp>
      <p:sp>
        <p:nvSpPr>
          <p:cNvPr id="343" name="Google Shape;343;g3f72562292a_36_8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f72562292a_48_16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5" name="Google Shape;375;g3f72562292a_48_16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 setor securitário, a agilidade no processamento de sinistros não é apenas diferencial competitivo, mas obrigação legal. Pela Circular SUSEP 621, a seguradora tem no máximo 30 dias corridos para concluir a regulação. Hoje, o processo é manual e ineficiente porque os dados estão isolados em silos heterogêneos. Embora 80% das seguradoras brasileiras usem IA, a principal barreira técnica, citada por 69%, é a integração com sistemas legados. O RelatoSeg surge para resolver esse problema não apenas para sinistros, mas estabelecendo uma arquitetura de referência reutilizável para que outras áreas da seguradora também automatizem relatórios complexos com agentes de IA sem reinventar a roda.</a:t>
            </a:r>
            <a:endParaRPr/>
          </a:p>
        </p:txBody>
      </p:sp>
      <p:sp>
        <p:nvSpPr>
          <p:cNvPr id="376" name="Google Shape;376;g3f72562292a_48_16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f72562292a_36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1" name="Google Shape;401;g3f72562292a_36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Olá, banca examinadora da PUC Minas! Meu nome é José Ribamar Bacelar Netto. Apresento hoje a defesa do meu Projeto Integrado de TCC intitulado RelatoSeg. Este trabalho desenvolve uma arquitetura de referência distribuída multi-domínio para orquestração de agentes de inteligência artificial baseada no protocolo MCP (Model Context Protocol). Para materializar a tese, aplicamos a arquitetura ao domínio prático da geração automatizada de relatórios de análise de sinistros de seguros, demonstrando reuso e conformidade com os rigorosos prazos regulatórios da SUSEP.</a:t>
            </a:r>
            <a:endParaRPr/>
          </a:p>
        </p:txBody>
      </p:sp>
      <p:sp>
        <p:nvSpPr>
          <p:cNvPr id="402" name="Google Shape;402;g3f72562292a_36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723461152_15_0)">
  <p:cSld name="Generated (g3f723461152_15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9.jpg"/><Relationship Id="rId4" Type="http://schemas.openxmlformats.org/officeDocument/2006/relationships/image" Target="../media/image12.png"/><Relationship Id="rId5" Type="http://schemas.openxmlformats.org/officeDocument/2006/relationships/image" Target="../media/image1.png"/><Relationship Id="rId6"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jpg"/><Relationship Id="rId4" Type="http://schemas.openxmlformats.org/officeDocument/2006/relationships/image" Target="../media/image6.png"/><Relationship Id="rId9" Type="http://schemas.openxmlformats.org/officeDocument/2006/relationships/image" Target="../media/image3.png"/><Relationship Id="rId5" Type="http://schemas.openxmlformats.org/officeDocument/2006/relationships/image" Target="../media/image18.png"/><Relationship Id="rId6" Type="http://schemas.openxmlformats.org/officeDocument/2006/relationships/image" Target="../media/image2.png"/><Relationship Id="rId7" Type="http://schemas.openxmlformats.org/officeDocument/2006/relationships/image" Target="../media/image5.png"/><Relationship Id="rId8"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jp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9.jpg"/><Relationship Id="rId4" Type="http://schemas.openxmlformats.org/officeDocument/2006/relationships/image" Target="../media/image13.png"/><Relationship Id="rId5" Type="http://schemas.openxmlformats.org/officeDocument/2006/relationships/image" Target="../media/image20.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5" name="Shape 85"/>
        <p:cNvGrpSpPr/>
        <p:nvPr/>
      </p:nvGrpSpPr>
      <p:grpSpPr>
        <a:xfrm>
          <a:off x="0" y="0"/>
          <a:ext cx="0" cy="0"/>
          <a:chOff x="0" y="0"/>
          <a:chExt cx="0" cy="0"/>
        </a:xfrm>
      </p:grpSpPr>
      <p:sp>
        <p:nvSpPr>
          <p:cNvPr id="86" name="Google Shape;86;p14"/>
          <p:cNvSpPr txBox="1"/>
          <p:nvPr/>
        </p:nvSpPr>
        <p:spPr>
          <a:xfrm>
            <a:off x="914400" y="1371600"/>
            <a:ext cx="10362900" cy="1944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5600" u="none" cap="none" strike="noStrike">
                <a:solidFill>
                  <a:srgbClr val="D97706"/>
                </a:solidFill>
                <a:latin typeface="Georgia"/>
                <a:ea typeface="Georgia"/>
                <a:cs typeface="Georgia"/>
                <a:sym typeface="Georgia"/>
              </a:rPr>
              <a:t>RelatoSeg</a:t>
            </a:r>
            <a:endParaRPr/>
          </a:p>
          <a:p>
            <a:pPr indent="0" lvl="0" marL="0" rtl="0" algn="l">
              <a:spcBef>
                <a:spcPts val="1000"/>
              </a:spcBef>
              <a:spcAft>
                <a:spcPts val="0"/>
              </a:spcAft>
              <a:buNone/>
            </a:pPr>
            <a:r>
              <a:rPr b="1" lang="en-US" sz="2800">
                <a:solidFill>
                  <a:srgbClr val="F1F5F9"/>
                </a:solidFill>
                <a:latin typeface="Georgia"/>
                <a:ea typeface="Georgia"/>
                <a:cs typeface="Georgia"/>
                <a:sym typeface="Georgia"/>
              </a:rPr>
              <a:t>Arquitetura Distribuída para Orquestração de Agentes de IA Baseada em MCP</a:t>
            </a:r>
            <a:endParaRPr/>
          </a:p>
        </p:txBody>
      </p:sp>
      <p:sp>
        <p:nvSpPr>
          <p:cNvPr id="87" name="Google Shape;87;p14"/>
          <p:cNvSpPr/>
          <p:nvPr/>
        </p:nvSpPr>
        <p:spPr>
          <a:xfrm>
            <a:off x="914400" y="3566160"/>
            <a:ext cx="2743200" cy="50800"/>
          </a:xfrm>
          <a:prstGeom prst="rect">
            <a:avLst/>
          </a:prstGeom>
          <a:solidFill>
            <a:srgbClr val="D9770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4"/>
          <p:cNvSpPr txBox="1"/>
          <p:nvPr/>
        </p:nvSpPr>
        <p:spPr>
          <a:xfrm>
            <a:off x="914400" y="3840480"/>
            <a:ext cx="10362900" cy="106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D97706"/>
                </a:solidFill>
                <a:latin typeface="Arial"/>
                <a:ea typeface="Arial"/>
                <a:cs typeface="Arial"/>
                <a:sym typeface="Arial"/>
              </a:rPr>
              <a:t>Especialização em Arquitetura de Software Distribuído — TCC</a:t>
            </a:r>
            <a:endParaRPr/>
          </a:p>
          <a:p>
            <a:pPr indent="0" lvl="0" marL="0" marR="0" rtl="0" algn="l">
              <a:spcBef>
                <a:spcPts val="600"/>
              </a:spcBef>
              <a:spcAft>
                <a:spcPts val="0"/>
              </a:spcAft>
              <a:buNone/>
            </a:pPr>
            <a:r>
              <a:rPr b="0" i="0" lang="en-US" sz="1400" u="none" cap="none" strike="noStrike">
                <a:solidFill>
                  <a:srgbClr val="F1F5F9"/>
                </a:solidFill>
                <a:latin typeface="Arial"/>
                <a:ea typeface="Arial"/>
                <a:cs typeface="Arial"/>
                <a:sym typeface="Arial"/>
              </a:rPr>
              <a:t>Pontifícia Universidade Católica de Minas Gerais (PUC Minas)</a:t>
            </a:r>
            <a:br>
              <a:rPr b="0" i="0" lang="en-US" sz="1400" u="none" cap="none" strike="noStrike">
                <a:solidFill>
                  <a:srgbClr val="F1F5F9"/>
                </a:solidFill>
                <a:latin typeface="Arial"/>
                <a:ea typeface="Arial"/>
                <a:cs typeface="Arial"/>
                <a:sym typeface="Arial"/>
              </a:rPr>
            </a:br>
            <a:r>
              <a:rPr b="0" i="0" lang="en-US" sz="1400" u="none" cap="none" strike="noStrike">
                <a:solidFill>
                  <a:srgbClr val="F1F5F9"/>
                </a:solidFill>
                <a:latin typeface="Arial"/>
                <a:ea typeface="Arial"/>
                <a:cs typeface="Arial"/>
                <a:sym typeface="Arial"/>
              </a:rPr>
              <a:t>Aluno: José Ribamar Bacelar Netto</a:t>
            </a:r>
            <a:br>
              <a:rPr b="0" i="0" lang="en-US" sz="1400" u="none" cap="none" strike="noStrike">
                <a:solidFill>
                  <a:srgbClr val="F1F5F9"/>
                </a:solidFill>
                <a:latin typeface="Arial"/>
                <a:ea typeface="Arial"/>
                <a:cs typeface="Arial"/>
                <a:sym typeface="Arial"/>
              </a:rPr>
            </a:br>
            <a:r>
              <a:rPr b="0" i="0" lang="en-US" sz="1400" u="none" cap="none" strike="noStrike">
                <a:solidFill>
                  <a:srgbClr val="F1F5F9"/>
                </a:solidFill>
                <a:latin typeface="Arial"/>
                <a:ea typeface="Arial"/>
                <a:cs typeface="Arial"/>
                <a:sym typeface="Arial"/>
              </a:rPr>
              <a:t>Belo Horizonte, Agosto de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5"/>
          <p:cNvPicPr preferRelativeResize="0"/>
          <p:nvPr/>
        </p:nvPicPr>
        <p:blipFill rotWithShape="1">
          <a:blip r:embed="rId3">
            <a:alphaModFix/>
          </a:blip>
          <a:srcRect b="0" l="387" r="387" t="0"/>
          <a:stretch/>
        </p:blipFill>
        <p:spPr>
          <a:xfrm>
            <a:off x="0" y="0"/>
            <a:ext cx="12192000" cy="6858000"/>
          </a:xfrm>
          <a:prstGeom prst="rect">
            <a:avLst/>
          </a:prstGeom>
          <a:noFill/>
          <a:ln>
            <a:noFill/>
          </a:ln>
        </p:spPr>
      </p:pic>
      <p:sp>
        <p:nvSpPr>
          <p:cNvPr id="94" name="Google Shape;94;p15"/>
          <p:cNvSpPr/>
          <p:nvPr/>
        </p:nvSpPr>
        <p:spPr>
          <a:xfrm>
            <a:off x="552450" y="1143000"/>
            <a:ext cx="11087100" cy="4572000"/>
          </a:xfrm>
          <a:prstGeom prst="roundRect">
            <a:avLst>
              <a:gd fmla="val 4166" name="adj"/>
            </a:avLst>
          </a:prstGeom>
          <a:solidFill>
            <a:srgbClr val="0F172A">
              <a:alpha val="85000"/>
            </a:srgbClr>
          </a:solidFill>
          <a:ln cap="flat" cmpd="sng" w="1905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95" name="Google Shape;95;p15"/>
          <p:cNvCxnSpPr/>
          <p:nvPr/>
        </p:nvCxnSpPr>
        <p:spPr>
          <a:xfrm>
            <a:off x="1143000" y="3429000"/>
            <a:ext cx="1905000" cy="0"/>
          </a:xfrm>
          <a:prstGeom prst="straightConnector1">
            <a:avLst/>
          </a:prstGeom>
          <a:solidFill>
            <a:srgbClr val="FFFFFF"/>
          </a:solidFill>
          <a:ln cap="flat" cmpd="sng" w="57150">
            <a:solidFill>
              <a:srgbClr val="D97706"/>
            </a:solidFill>
            <a:prstDash val="solid"/>
            <a:round/>
            <a:headEnd len="sm" w="sm" type="none"/>
            <a:tailEnd len="sm" w="sm" type="none"/>
          </a:ln>
        </p:spPr>
      </p:cxnSp>
      <p:sp>
        <p:nvSpPr>
          <p:cNvPr id="96" name="Google Shape;96;p15"/>
          <p:cNvSpPr txBox="1"/>
          <p:nvPr/>
        </p:nvSpPr>
        <p:spPr>
          <a:xfrm>
            <a:off x="1143000" y="2286000"/>
            <a:ext cx="9906000" cy="304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D97706"/>
                </a:solidFill>
                <a:latin typeface="Georgia"/>
                <a:ea typeface="Georgia"/>
                <a:cs typeface="Georgia"/>
                <a:sym typeface="Georgia"/>
              </a:rPr>
              <a:t>CAPÍTULO 1</a:t>
            </a:r>
            <a:endParaRPr b="1" sz="1600">
              <a:solidFill>
                <a:srgbClr val="D97706"/>
              </a:solidFill>
              <a:latin typeface="Georgia"/>
              <a:ea typeface="Georgia"/>
              <a:cs typeface="Georgia"/>
              <a:sym typeface="Georgia"/>
            </a:endParaRPr>
          </a:p>
          <a:p>
            <a:pPr indent="0" lvl="0" marL="0" rtl="0" algn="l">
              <a:spcBef>
                <a:spcPts val="1125"/>
              </a:spcBef>
              <a:spcAft>
                <a:spcPts val="0"/>
              </a:spcAft>
              <a:buNone/>
            </a:pPr>
            <a:r>
              <a:rPr b="1" lang="en-US" sz="4200">
                <a:solidFill>
                  <a:srgbClr val="F1F5F9"/>
                </a:solidFill>
                <a:latin typeface="Georgia"/>
                <a:ea typeface="Georgia"/>
                <a:cs typeface="Georgia"/>
                <a:sym typeface="Georgia"/>
              </a:rPr>
              <a:t>O Desafio dos Sinistros</a:t>
            </a:r>
            <a:endParaRPr b="1" sz="4200">
              <a:solidFill>
                <a:srgbClr val="F1F5F9"/>
              </a:solidFill>
              <a:latin typeface="Georgia"/>
              <a:ea typeface="Georgia"/>
              <a:cs typeface="Georgia"/>
              <a:sym typeface="Georgia"/>
            </a:endParaRPr>
          </a:p>
          <a:p>
            <a:pPr indent="0" lvl="0" marL="0" rtl="0" algn="l">
              <a:spcBef>
                <a:spcPts val="1500"/>
              </a:spcBef>
              <a:spcAft>
                <a:spcPts val="0"/>
              </a:spcAft>
              <a:buNone/>
            </a:pPr>
            <a:r>
              <a:rPr b="0" lang="en-US" sz="1800">
                <a:solidFill>
                  <a:srgbClr val="94A3B8"/>
                </a:solidFill>
                <a:latin typeface="Arial"/>
                <a:ea typeface="Arial"/>
                <a:cs typeface="Arial"/>
                <a:sym typeface="Arial"/>
              </a:rPr>
              <a:t>Pressão Regulatória e a Busca por Eficiência Operacional</a:t>
            </a:r>
            <a:endParaRPr b="0" sz="1800">
              <a:solidFill>
                <a:srgbClr val="94A3B8"/>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 name="Shape 101"/>
        <p:cNvGrpSpPr/>
        <p:nvPr/>
      </p:nvGrpSpPr>
      <p:grpSpPr>
        <a:xfrm>
          <a:off x="0" y="0"/>
          <a:ext cx="0" cy="0"/>
          <a:chOff x="0" y="0"/>
          <a:chExt cx="0" cy="0"/>
        </a:xfrm>
      </p:grpSpPr>
      <p:sp>
        <p:nvSpPr>
          <p:cNvPr id="102" name="Google Shape;102;p16"/>
          <p:cNvSpPr/>
          <p:nvPr/>
        </p:nvSpPr>
        <p:spPr>
          <a:xfrm>
            <a:off x="548640" y="209550"/>
            <a:ext cx="11094300" cy="1162200"/>
          </a:xfrm>
          <a:prstGeom prst="roundRect">
            <a:avLst>
              <a:gd fmla="val 9836" name="adj"/>
            </a:avLst>
          </a:prstGeom>
          <a:solidFill>
            <a:srgbClr val="FCFCFC"/>
          </a:solidFill>
          <a:ln cap="flat" cmpd="sng" w="14300">
            <a:solidFill>
              <a:srgbClr val="F9F9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6"/>
          <p:cNvSpPr txBox="1"/>
          <p:nvPr/>
        </p:nvSpPr>
        <p:spPr>
          <a:xfrm>
            <a:off x="548640" y="280896"/>
            <a:ext cx="11094300" cy="184800"/>
          </a:xfrm>
          <a:prstGeom prst="rect">
            <a:avLst/>
          </a:prstGeom>
          <a:solidFill>
            <a:srgbClr val="000000">
              <a:alpha val="0"/>
            </a:srgbClr>
          </a:solidFill>
          <a:ln>
            <a:noFill/>
          </a:ln>
        </p:spPr>
        <p:txBody>
          <a:bodyPr anchorCtr="0" anchor="t" bIns="0" lIns="142875" spcFirstLastPara="1" rIns="0" wrap="square" tIns="0">
            <a:spAutoFit/>
          </a:bodyPr>
          <a:lstStyle/>
          <a:p>
            <a:pPr indent="0" lvl="0" marL="0" rtl="0" algn="l">
              <a:spcBef>
                <a:spcPts val="0"/>
              </a:spcBef>
              <a:spcAft>
                <a:spcPts val="0"/>
              </a:spcAft>
              <a:buNone/>
            </a:pPr>
            <a:r>
              <a:rPr b="1" lang="en-US" sz="1200">
                <a:solidFill>
                  <a:srgbClr val="D97706"/>
                </a:solidFill>
                <a:latin typeface="Arial"/>
                <a:ea typeface="Arial"/>
                <a:cs typeface="Arial"/>
                <a:sym typeface="Arial"/>
              </a:rPr>
              <a:t>CONTEXTO &amp; PROBLEMA</a:t>
            </a:r>
            <a:endParaRPr b="1" sz="1200">
              <a:solidFill>
                <a:srgbClr val="D97706"/>
              </a:solidFill>
              <a:latin typeface="Arial"/>
              <a:ea typeface="Arial"/>
              <a:cs typeface="Arial"/>
              <a:sym typeface="Arial"/>
            </a:endParaRPr>
          </a:p>
        </p:txBody>
      </p:sp>
      <p:sp>
        <p:nvSpPr>
          <p:cNvPr id="104" name="Google Shape;104;p16"/>
          <p:cNvSpPr txBox="1"/>
          <p:nvPr/>
        </p:nvSpPr>
        <p:spPr>
          <a:xfrm>
            <a:off x="548640" y="476250"/>
            <a:ext cx="11094300" cy="738900"/>
          </a:xfrm>
          <a:prstGeom prst="rect">
            <a:avLst/>
          </a:prstGeom>
          <a:solidFill>
            <a:srgbClr val="000000">
              <a:alpha val="0"/>
            </a:srgbClr>
          </a:solidFill>
          <a:ln>
            <a:noFill/>
          </a:ln>
        </p:spPr>
        <p:txBody>
          <a:bodyPr anchorCtr="0" anchor="ctr" bIns="0" lIns="142875" spcFirstLastPara="1" rIns="142875" wrap="square" tIns="0">
            <a:spAutoFit/>
          </a:bodyPr>
          <a:lstStyle/>
          <a:p>
            <a:pPr indent="0" lvl="0" marL="0" rtl="0" algn="l">
              <a:spcBef>
                <a:spcPts val="0"/>
              </a:spcBef>
              <a:spcAft>
                <a:spcPts val="0"/>
              </a:spcAft>
              <a:buNone/>
            </a:pPr>
            <a:r>
              <a:rPr b="1" lang="en-US" sz="2400">
                <a:solidFill>
                  <a:srgbClr val="1E293B"/>
                </a:solidFill>
                <a:latin typeface="Georgia"/>
                <a:ea typeface="Georgia"/>
                <a:cs typeface="Georgia"/>
                <a:sym typeface="Georgia"/>
              </a:rPr>
              <a:t>Circular SUSEP 621 exige regulação de sinistros </a:t>
            </a:r>
            <a:endParaRPr b="1" sz="2400">
              <a:solidFill>
                <a:srgbClr val="1E293B"/>
              </a:solidFill>
              <a:latin typeface="Georgia"/>
              <a:ea typeface="Georgia"/>
              <a:cs typeface="Georgia"/>
              <a:sym typeface="Georgia"/>
            </a:endParaRPr>
          </a:p>
          <a:p>
            <a:pPr indent="0" lvl="0" marL="0" rtl="0" algn="l">
              <a:spcBef>
                <a:spcPts val="0"/>
              </a:spcBef>
              <a:spcAft>
                <a:spcPts val="0"/>
              </a:spcAft>
              <a:buNone/>
            </a:pPr>
            <a:r>
              <a:rPr b="1" lang="en-US" sz="2400">
                <a:solidFill>
                  <a:srgbClr val="1E293B"/>
                </a:solidFill>
                <a:latin typeface="Georgia"/>
                <a:ea typeface="Georgia"/>
                <a:cs typeface="Georgia"/>
                <a:sym typeface="Georgia"/>
              </a:rPr>
              <a:t>em 30 dias mas processos manuais geram lentidão</a:t>
            </a:r>
            <a:endParaRPr b="1" sz="2400">
              <a:solidFill>
                <a:srgbClr val="1E293B"/>
              </a:solidFill>
              <a:latin typeface="Georgia"/>
              <a:ea typeface="Georgia"/>
              <a:cs typeface="Georgia"/>
              <a:sym typeface="Georgia"/>
            </a:endParaRPr>
          </a:p>
        </p:txBody>
      </p:sp>
      <p:sp>
        <p:nvSpPr>
          <p:cNvPr id="105" name="Google Shape;105;p16"/>
          <p:cNvSpPr/>
          <p:nvPr/>
        </p:nvSpPr>
        <p:spPr>
          <a:xfrm>
            <a:off x="577215" y="1674495"/>
            <a:ext cx="5303400" cy="4389000"/>
          </a:xfrm>
          <a:prstGeom prst="roundRect">
            <a:avLst>
              <a:gd fmla="val 5208" name="adj"/>
            </a:avLst>
          </a:prstGeom>
          <a:solidFill>
            <a:srgbClr val="000000">
              <a:alpha val="4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6"/>
          <p:cNvSpPr/>
          <p:nvPr/>
        </p:nvSpPr>
        <p:spPr>
          <a:xfrm>
            <a:off x="691515" y="1257300"/>
            <a:ext cx="10808700" cy="19200"/>
          </a:xfrm>
          <a:prstGeom prst="rect">
            <a:avLst/>
          </a:prstGeom>
          <a:solidFill>
            <a:srgbClr val="D97706"/>
          </a:solidFill>
          <a:ln>
            <a:noFill/>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7" name="Google Shape;107;p16"/>
          <p:cNvGrpSpPr/>
          <p:nvPr/>
        </p:nvGrpSpPr>
        <p:grpSpPr>
          <a:xfrm>
            <a:off x="548640" y="1645920"/>
            <a:ext cx="5303400" cy="4389000"/>
            <a:chOff x="548640" y="1645920"/>
            <a:chExt cx="5303400" cy="4389000"/>
          </a:xfrm>
        </p:grpSpPr>
        <p:sp>
          <p:nvSpPr>
            <p:cNvPr id="108" name="Google Shape;108;p16"/>
            <p:cNvSpPr/>
            <p:nvPr/>
          </p:nvSpPr>
          <p:spPr>
            <a:xfrm>
              <a:off x="548640" y="1645920"/>
              <a:ext cx="5303400" cy="4389000"/>
            </a:xfrm>
            <a:prstGeom prst="roundRect">
              <a:avLst>
                <a:gd fmla="val 520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6"/>
            <p:cNvSpPr txBox="1"/>
            <p:nvPr/>
          </p:nvSpPr>
          <p:spPr>
            <a:xfrm>
              <a:off x="548640" y="1645920"/>
              <a:ext cx="5303400" cy="4389000"/>
            </a:xfrm>
            <a:prstGeom prst="rect">
              <a:avLst/>
            </a:prstGeom>
            <a:noFill/>
            <a:ln>
              <a:noFill/>
            </a:ln>
          </p:spPr>
          <p:txBody>
            <a:bodyPr anchorCtr="0" anchor="t" bIns="304800" lIns="304800" spcFirstLastPara="1" rIns="304800" wrap="square" tIns="304800">
              <a:noAutofit/>
            </a:bodyPr>
            <a:lstStyle/>
            <a:p>
              <a:pPr indent="0" lvl="0" marL="0" rtl="0" algn="l">
                <a:spcBef>
                  <a:spcPts val="0"/>
                </a:spcBef>
                <a:spcAft>
                  <a:spcPts val="0"/>
                </a:spcAft>
                <a:buNone/>
              </a:pPr>
              <a:r>
                <a:rPr b="1" lang="en-US" sz="1800">
                  <a:solidFill>
                    <a:srgbClr val="1E293B"/>
                  </a:solidFill>
                  <a:latin typeface="Georgia"/>
                  <a:ea typeface="Georgia"/>
                  <a:cs typeface="Georgia"/>
                  <a:sym typeface="Georgia"/>
                </a:rPr>
                <a:t>O Desafio Regulatório e a Dor de Mercado</a:t>
              </a:r>
              <a:endParaRPr b="1" sz="1800">
                <a:solidFill>
                  <a:srgbClr val="1E293B"/>
                </a:solidFill>
                <a:latin typeface="Georgia"/>
                <a:ea typeface="Georgia"/>
                <a:cs typeface="Georgia"/>
                <a:sym typeface="Georgia"/>
              </a:endParaRPr>
            </a:p>
            <a:p>
              <a:pPr indent="0" lvl="0" marL="0" rtl="0" algn="l">
                <a:spcBef>
                  <a:spcPts val="1800"/>
                </a:spcBef>
                <a:spcAft>
                  <a:spcPts val="0"/>
                </a:spcAft>
                <a:buNone/>
              </a:pPr>
              <a:r>
                <a:rPr lang="en-US" sz="2000">
                  <a:solidFill>
                    <a:srgbClr val="D97706"/>
                  </a:solidFill>
                  <a:latin typeface="Material Icons"/>
                  <a:ea typeface="Material Icons"/>
                  <a:cs typeface="Material Icons"/>
                  <a:sym typeface="Material Icons"/>
                </a:rPr>
                <a:t>schedule</a:t>
              </a:r>
              <a:endParaRPr>
                <a:latin typeface="Arial"/>
                <a:ea typeface="Arial"/>
                <a:cs typeface="Arial"/>
                <a:sym typeface="Arial"/>
              </a:endParaRPr>
            </a:p>
            <a:p>
              <a:pPr indent="0" lvl="0" marL="0" rtl="0" algn="l">
                <a:spcBef>
                  <a:spcPts val="0"/>
                </a:spcBef>
                <a:spcAft>
                  <a:spcPts val="0"/>
                </a:spcAft>
                <a:buNone/>
              </a:pPr>
              <a:r>
                <a:rPr b="1" lang="en-US">
                  <a:solidFill>
                    <a:srgbClr val="0F172A"/>
                  </a:solidFill>
                  <a:latin typeface="Arial"/>
                  <a:ea typeface="Arial"/>
                  <a:cs typeface="Arial"/>
                  <a:sym typeface="Arial"/>
                </a:rPr>
                <a:t>Prazo Limite de 30 Dias:</a:t>
              </a:r>
              <a:r>
                <a:rPr lang="en-US">
                  <a:solidFill>
                    <a:srgbClr val="334155"/>
                  </a:solidFill>
                  <a:latin typeface="Arial"/>
                  <a:ea typeface="Arial"/>
                  <a:cs typeface="Arial"/>
                  <a:sym typeface="Arial"/>
                </a:rPr>
                <a:t> A Circular SUSEP 621/2021 estabelece que a regulação de sinistros deve ser concluída em até 30 dias sob pena de juros e multa.</a:t>
              </a:r>
              <a:endParaRPr>
                <a:solidFill>
                  <a:srgbClr val="334155"/>
                </a:solidFill>
                <a:latin typeface="Arial"/>
                <a:ea typeface="Arial"/>
                <a:cs typeface="Arial"/>
                <a:sym typeface="Arial"/>
              </a:endParaRPr>
            </a:p>
            <a:p>
              <a:pPr indent="0" lvl="0" marL="0" rtl="0" algn="l">
                <a:spcBef>
                  <a:spcPts val="1350"/>
                </a:spcBef>
                <a:spcAft>
                  <a:spcPts val="0"/>
                </a:spcAft>
                <a:buNone/>
              </a:pPr>
              <a:r>
                <a:rPr lang="en-US" sz="2000">
                  <a:solidFill>
                    <a:srgbClr val="D97706"/>
                  </a:solidFill>
                  <a:latin typeface="Material Icons"/>
                  <a:ea typeface="Material Icons"/>
                  <a:cs typeface="Material Icons"/>
                  <a:sym typeface="Material Icons"/>
                </a:rPr>
                <a:t>hourglass_empty</a:t>
              </a:r>
              <a:endParaRPr>
                <a:latin typeface="Arial"/>
                <a:ea typeface="Arial"/>
                <a:cs typeface="Arial"/>
                <a:sym typeface="Arial"/>
              </a:endParaRPr>
            </a:p>
            <a:p>
              <a:pPr indent="0" lvl="0" marL="0" rtl="0" algn="l">
                <a:spcBef>
                  <a:spcPts val="0"/>
                </a:spcBef>
                <a:spcAft>
                  <a:spcPts val="0"/>
                </a:spcAft>
                <a:buNone/>
              </a:pPr>
              <a:r>
                <a:rPr b="1" lang="en-US">
                  <a:solidFill>
                    <a:srgbClr val="0F172A"/>
                  </a:solidFill>
                  <a:latin typeface="Arial"/>
                  <a:ea typeface="Arial"/>
                  <a:cs typeface="Arial"/>
                  <a:sym typeface="Arial"/>
                </a:rPr>
                <a:t>Processo Manual Lento:</a:t>
              </a:r>
              <a:r>
                <a:rPr lang="en-US">
                  <a:solidFill>
                    <a:srgbClr val="334155"/>
                  </a:solidFill>
                  <a:latin typeface="Arial"/>
                  <a:ea typeface="Arial"/>
                  <a:cs typeface="Arial"/>
                  <a:sym typeface="Arial"/>
                </a:rPr>
                <a:t> Atualmente, reguladores acessam múltiplos sistemas legados e desestruturados de forma isolada e manual para cada parecer.</a:t>
              </a:r>
              <a:endParaRPr>
                <a:solidFill>
                  <a:srgbClr val="334155"/>
                </a:solidFill>
                <a:latin typeface="Arial"/>
                <a:ea typeface="Arial"/>
                <a:cs typeface="Arial"/>
                <a:sym typeface="Arial"/>
              </a:endParaRPr>
            </a:p>
            <a:p>
              <a:pPr indent="0" lvl="0" marL="0" rtl="0" algn="l">
                <a:spcBef>
                  <a:spcPts val="1350"/>
                </a:spcBef>
                <a:spcAft>
                  <a:spcPts val="0"/>
                </a:spcAft>
                <a:buNone/>
              </a:pPr>
              <a:r>
                <a:rPr lang="en-US" sz="2000">
                  <a:solidFill>
                    <a:srgbClr val="D97706"/>
                  </a:solidFill>
                  <a:latin typeface="Material Icons"/>
                  <a:ea typeface="Material Icons"/>
                  <a:cs typeface="Material Icons"/>
                  <a:sym typeface="Material Icons"/>
                </a:rPr>
                <a:t>link_off</a:t>
              </a:r>
              <a:endParaRPr>
                <a:latin typeface="Arial"/>
                <a:ea typeface="Arial"/>
                <a:cs typeface="Arial"/>
                <a:sym typeface="Arial"/>
              </a:endParaRPr>
            </a:p>
            <a:p>
              <a:pPr indent="0" lvl="0" marL="0" rtl="0" algn="l">
                <a:spcBef>
                  <a:spcPts val="0"/>
                </a:spcBef>
                <a:spcAft>
                  <a:spcPts val="0"/>
                </a:spcAft>
                <a:buNone/>
              </a:pPr>
              <a:r>
                <a:rPr b="1" lang="en-US">
                  <a:solidFill>
                    <a:srgbClr val="0F172A"/>
                  </a:solidFill>
                  <a:latin typeface="Arial"/>
                  <a:ea typeface="Arial"/>
                  <a:cs typeface="Arial"/>
                  <a:sym typeface="Arial"/>
                </a:rPr>
                <a:t>Dificuldade de Integração:</a:t>
              </a:r>
              <a:r>
                <a:rPr lang="en-US">
                  <a:solidFill>
                    <a:srgbClr val="334155"/>
                  </a:solidFill>
                  <a:latin typeface="Arial"/>
                  <a:ea typeface="Arial"/>
                  <a:cs typeface="Arial"/>
                  <a:sym typeface="Arial"/>
                </a:rPr>
                <a:t> 80% das seguradoras utilizam IA, mas 69% apontam a integração com sistemas legados como a maior barreira.</a:t>
              </a:r>
              <a:endParaRPr>
                <a:solidFill>
                  <a:srgbClr val="334155"/>
                </a:solidFill>
                <a:latin typeface="Arial"/>
                <a:ea typeface="Arial"/>
                <a:cs typeface="Arial"/>
                <a:sym typeface="Arial"/>
              </a:endParaRPr>
            </a:p>
          </p:txBody>
        </p:sp>
      </p:grpSp>
      <p:sp>
        <p:nvSpPr>
          <p:cNvPr id="110" name="Google Shape;110;p16"/>
          <p:cNvSpPr/>
          <p:nvPr/>
        </p:nvSpPr>
        <p:spPr>
          <a:xfrm>
            <a:off x="6246495" y="1674495"/>
            <a:ext cx="5303400" cy="4389000"/>
          </a:xfrm>
          <a:prstGeom prst="roundRect">
            <a:avLst>
              <a:gd fmla="val 5208" name="adj"/>
            </a:avLst>
          </a:prstGeom>
          <a:solidFill>
            <a:srgbClr val="000000">
              <a:alpha val="4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1" name="Google Shape;111;p16"/>
          <p:cNvGrpSpPr/>
          <p:nvPr/>
        </p:nvGrpSpPr>
        <p:grpSpPr>
          <a:xfrm>
            <a:off x="6217920" y="1645920"/>
            <a:ext cx="5303400" cy="4389000"/>
            <a:chOff x="6217920" y="1645920"/>
            <a:chExt cx="5303400" cy="4389000"/>
          </a:xfrm>
        </p:grpSpPr>
        <p:sp>
          <p:nvSpPr>
            <p:cNvPr id="112" name="Google Shape;112;p16"/>
            <p:cNvSpPr/>
            <p:nvPr/>
          </p:nvSpPr>
          <p:spPr>
            <a:xfrm>
              <a:off x="6217920" y="1645920"/>
              <a:ext cx="5303400" cy="4389000"/>
            </a:xfrm>
            <a:prstGeom prst="roundRect">
              <a:avLst>
                <a:gd fmla="val 5208" name="adj"/>
              </a:avLst>
            </a:prstGeom>
            <a:solidFill>
              <a:srgbClr val="FFFBEB"/>
            </a:solidFill>
            <a:ln cap="flat" cmpd="sng" w="1430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6"/>
            <p:cNvSpPr txBox="1"/>
            <p:nvPr/>
          </p:nvSpPr>
          <p:spPr>
            <a:xfrm>
              <a:off x="6217920" y="1645920"/>
              <a:ext cx="5303400" cy="4389000"/>
            </a:xfrm>
            <a:prstGeom prst="rect">
              <a:avLst/>
            </a:prstGeom>
            <a:noFill/>
            <a:ln>
              <a:noFill/>
            </a:ln>
          </p:spPr>
          <p:txBody>
            <a:bodyPr anchorCtr="0" anchor="t" bIns="304800" lIns="304800" spcFirstLastPara="1" rIns="304800" wrap="square" tIns="304800">
              <a:noAutofit/>
            </a:bodyPr>
            <a:lstStyle/>
            <a:p>
              <a:pPr indent="0" lvl="0" marL="0" rtl="0" algn="l">
                <a:spcBef>
                  <a:spcPts val="0"/>
                </a:spcBef>
                <a:spcAft>
                  <a:spcPts val="0"/>
                </a:spcAft>
                <a:buNone/>
              </a:pPr>
              <a:r>
                <a:rPr b="1" lang="en-US" sz="1800">
                  <a:solidFill>
                    <a:srgbClr val="1E293B"/>
                  </a:solidFill>
                  <a:latin typeface="Georgia"/>
                  <a:ea typeface="Georgia"/>
                  <a:cs typeface="Georgia"/>
                  <a:sym typeface="Georgia"/>
                </a:rPr>
                <a:t>A Oportunidade e o Impacto no Negócio</a:t>
              </a:r>
              <a:endParaRPr b="1" sz="1800">
                <a:solidFill>
                  <a:srgbClr val="1E293B"/>
                </a:solidFill>
                <a:latin typeface="Georgia"/>
                <a:ea typeface="Georgia"/>
                <a:cs typeface="Georgia"/>
                <a:sym typeface="Georgia"/>
              </a:endParaRPr>
            </a:p>
            <a:p>
              <a:pPr indent="0" lvl="0" marL="0" rtl="0" algn="l">
                <a:spcBef>
                  <a:spcPts val="1800"/>
                </a:spcBef>
                <a:spcAft>
                  <a:spcPts val="0"/>
                </a:spcAft>
                <a:buNone/>
              </a:pPr>
              <a:r>
                <a:rPr lang="en-US" sz="2000">
                  <a:solidFill>
                    <a:srgbClr val="B45309"/>
                  </a:solidFill>
                  <a:latin typeface="Material Icons"/>
                  <a:ea typeface="Material Icons"/>
                  <a:cs typeface="Material Icons"/>
                  <a:sym typeface="Material Icons"/>
                </a:rPr>
                <a:t>trending_up</a:t>
              </a:r>
              <a:endParaRPr>
                <a:latin typeface="Arial"/>
                <a:ea typeface="Arial"/>
                <a:cs typeface="Arial"/>
                <a:sym typeface="Arial"/>
              </a:endParaRPr>
            </a:p>
            <a:p>
              <a:pPr indent="0" lvl="0" marL="0" rtl="0" algn="l">
                <a:spcBef>
                  <a:spcPts val="0"/>
                </a:spcBef>
                <a:spcAft>
                  <a:spcPts val="0"/>
                </a:spcAft>
                <a:buNone/>
              </a:pPr>
              <a:r>
                <a:rPr b="1" lang="en-US">
                  <a:solidFill>
                    <a:srgbClr val="78350F"/>
                  </a:solidFill>
                  <a:latin typeface="Arial"/>
                  <a:ea typeface="Arial"/>
                  <a:cs typeface="Arial"/>
                  <a:sym typeface="Arial"/>
                </a:rPr>
                <a:t>Desacoplamento e Escala:</a:t>
              </a:r>
              <a:r>
                <a:rPr lang="en-US">
                  <a:solidFill>
                    <a:srgbClr val="451A03"/>
                  </a:solidFill>
                  <a:latin typeface="Arial"/>
                  <a:ea typeface="Arial"/>
                  <a:cs typeface="Arial"/>
                  <a:sym typeface="Arial"/>
                </a:rPr>
                <a:t> Automatizar sinistros resolve uma dor local, mas a real escala exige uma infraestrutura reutilizável para pareceres analíticos.</a:t>
              </a:r>
              <a:endParaRPr>
                <a:solidFill>
                  <a:srgbClr val="451A03"/>
                </a:solidFill>
                <a:latin typeface="Arial"/>
                <a:ea typeface="Arial"/>
                <a:cs typeface="Arial"/>
                <a:sym typeface="Arial"/>
              </a:endParaRPr>
            </a:p>
            <a:p>
              <a:pPr indent="0" lvl="0" marL="0" rtl="0" algn="l">
                <a:spcBef>
                  <a:spcPts val="1350"/>
                </a:spcBef>
                <a:spcAft>
                  <a:spcPts val="0"/>
                </a:spcAft>
                <a:buNone/>
              </a:pPr>
              <a:r>
                <a:rPr lang="en-US" sz="2000">
                  <a:solidFill>
                    <a:srgbClr val="B45309"/>
                  </a:solidFill>
                  <a:latin typeface="Material Icons"/>
                  <a:ea typeface="Material Icons"/>
                  <a:cs typeface="Material Icons"/>
                  <a:sym typeface="Material Icons"/>
                </a:rPr>
                <a:t>layers</a:t>
              </a:r>
              <a:endParaRPr>
                <a:latin typeface="Arial"/>
                <a:ea typeface="Arial"/>
                <a:cs typeface="Arial"/>
                <a:sym typeface="Arial"/>
              </a:endParaRPr>
            </a:p>
            <a:p>
              <a:pPr indent="0" lvl="0" marL="0" rtl="0" algn="l">
                <a:spcBef>
                  <a:spcPts val="0"/>
                </a:spcBef>
                <a:spcAft>
                  <a:spcPts val="0"/>
                </a:spcAft>
                <a:buNone/>
              </a:pPr>
              <a:r>
                <a:rPr b="1" lang="en-US">
                  <a:solidFill>
                    <a:srgbClr val="78350F"/>
                  </a:solidFill>
                  <a:latin typeface="Arial"/>
                  <a:ea typeface="Arial"/>
                  <a:cs typeface="Arial"/>
                  <a:sym typeface="Arial"/>
                </a:rPr>
                <a:t>Consolidação de Fontes:</a:t>
              </a:r>
              <a:r>
                <a:rPr lang="en-US">
                  <a:solidFill>
                    <a:srgbClr val="451A03"/>
                  </a:solidFill>
                  <a:latin typeface="Arial"/>
                  <a:ea typeface="Arial"/>
                  <a:cs typeface="Arial"/>
                  <a:sym typeface="Arial"/>
                </a:rPr>
                <a:t> É fundamental cruzar dados de apólices estruturadas com arquivos heterogêneos (fotos, laudos e planilhas).</a:t>
              </a:r>
              <a:endParaRPr>
                <a:solidFill>
                  <a:srgbClr val="451A03"/>
                </a:solidFill>
                <a:latin typeface="Arial"/>
                <a:ea typeface="Arial"/>
                <a:cs typeface="Arial"/>
                <a:sym typeface="Arial"/>
              </a:endParaRPr>
            </a:p>
            <a:p>
              <a:pPr indent="0" lvl="0" marL="0" rtl="0" algn="l">
                <a:spcBef>
                  <a:spcPts val="1350"/>
                </a:spcBef>
                <a:spcAft>
                  <a:spcPts val="0"/>
                </a:spcAft>
                <a:buNone/>
              </a:pPr>
              <a:r>
                <a:rPr lang="en-US" sz="2000">
                  <a:solidFill>
                    <a:srgbClr val="B45309"/>
                  </a:solidFill>
                  <a:latin typeface="Material Icons"/>
                  <a:ea typeface="Material Icons"/>
                  <a:cs typeface="Material Icons"/>
                  <a:sym typeface="Material Icons"/>
                </a:rPr>
                <a:t>auto_awesome</a:t>
              </a:r>
              <a:endParaRPr>
                <a:latin typeface="Arial"/>
                <a:ea typeface="Arial"/>
                <a:cs typeface="Arial"/>
                <a:sym typeface="Arial"/>
              </a:endParaRPr>
            </a:p>
            <a:p>
              <a:pPr indent="0" lvl="0" marL="0" rtl="0" algn="l">
                <a:spcBef>
                  <a:spcPts val="0"/>
                </a:spcBef>
                <a:spcAft>
                  <a:spcPts val="0"/>
                </a:spcAft>
                <a:buNone/>
              </a:pPr>
              <a:r>
                <a:rPr b="1" lang="en-US">
                  <a:solidFill>
                    <a:srgbClr val="78350F"/>
                  </a:solidFill>
                  <a:latin typeface="Arial"/>
                  <a:ea typeface="Arial"/>
                  <a:cs typeface="Arial"/>
                  <a:sym typeface="Arial"/>
                </a:rPr>
                <a:t>Solução Estruturada:</a:t>
              </a:r>
              <a:r>
                <a:rPr lang="en-US">
                  <a:solidFill>
                    <a:srgbClr val="451A03"/>
                  </a:solidFill>
                  <a:latin typeface="Arial"/>
                  <a:ea typeface="Arial"/>
                  <a:cs typeface="Arial"/>
                  <a:sym typeface="Arial"/>
                </a:rPr>
                <a:t> Arquitetura distribuída de referência que padroniza o fluxo de agentes de IA, extração e notificação ativa.</a:t>
              </a:r>
              <a:endParaRPr>
                <a:solidFill>
                  <a:srgbClr val="451A03"/>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17"/>
          <p:cNvPicPr preferRelativeResize="0"/>
          <p:nvPr/>
        </p:nvPicPr>
        <p:blipFill rotWithShape="1">
          <a:blip r:embed="rId3">
            <a:alphaModFix/>
          </a:blip>
          <a:srcRect b="0" l="387" r="387" t="0"/>
          <a:stretch/>
        </p:blipFill>
        <p:spPr>
          <a:xfrm>
            <a:off x="0" y="0"/>
            <a:ext cx="12192000" cy="6858000"/>
          </a:xfrm>
          <a:prstGeom prst="rect">
            <a:avLst/>
          </a:prstGeom>
          <a:noFill/>
          <a:ln>
            <a:noFill/>
          </a:ln>
        </p:spPr>
      </p:pic>
      <p:sp>
        <p:nvSpPr>
          <p:cNvPr id="119" name="Google Shape;119;p17"/>
          <p:cNvSpPr/>
          <p:nvPr/>
        </p:nvSpPr>
        <p:spPr>
          <a:xfrm>
            <a:off x="552450" y="1143000"/>
            <a:ext cx="11087100" cy="4572000"/>
          </a:xfrm>
          <a:prstGeom prst="roundRect">
            <a:avLst>
              <a:gd fmla="val 4166" name="adj"/>
            </a:avLst>
          </a:prstGeom>
          <a:solidFill>
            <a:srgbClr val="0F172A">
              <a:alpha val="85000"/>
            </a:srgbClr>
          </a:solidFill>
          <a:ln cap="flat" cmpd="sng" w="1905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20" name="Google Shape;120;p17"/>
          <p:cNvCxnSpPr/>
          <p:nvPr/>
        </p:nvCxnSpPr>
        <p:spPr>
          <a:xfrm>
            <a:off x="1143000" y="3429000"/>
            <a:ext cx="1905000" cy="0"/>
          </a:xfrm>
          <a:prstGeom prst="straightConnector1">
            <a:avLst/>
          </a:prstGeom>
          <a:solidFill>
            <a:srgbClr val="FFFFFF"/>
          </a:solidFill>
          <a:ln cap="flat" cmpd="sng" w="57150">
            <a:solidFill>
              <a:srgbClr val="D97706"/>
            </a:solidFill>
            <a:prstDash val="solid"/>
            <a:round/>
            <a:headEnd len="sm" w="sm" type="none"/>
            <a:tailEnd len="sm" w="sm" type="none"/>
          </a:ln>
        </p:spPr>
      </p:cxnSp>
      <p:sp>
        <p:nvSpPr>
          <p:cNvPr id="121" name="Google Shape;121;p17"/>
          <p:cNvSpPr txBox="1"/>
          <p:nvPr/>
        </p:nvSpPr>
        <p:spPr>
          <a:xfrm>
            <a:off x="1143000" y="2286000"/>
            <a:ext cx="9906000" cy="304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D97706"/>
                </a:solidFill>
                <a:latin typeface="Georgia"/>
                <a:ea typeface="Georgia"/>
                <a:cs typeface="Georgia"/>
                <a:sym typeface="Georgia"/>
              </a:rPr>
              <a:t>CAPÍTULO 2</a:t>
            </a:r>
            <a:endParaRPr b="1" sz="1600">
              <a:solidFill>
                <a:srgbClr val="D97706"/>
              </a:solidFill>
              <a:latin typeface="Georgia"/>
              <a:ea typeface="Georgia"/>
              <a:cs typeface="Georgia"/>
              <a:sym typeface="Georgia"/>
            </a:endParaRPr>
          </a:p>
          <a:p>
            <a:pPr indent="0" lvl="0" marL="0" rtl="0" algn="l">
              <a:spcBef>
                <a:spcPts val="1125"/>
              </a:spcBef>
              <a:spcAft>
                <a:spcPts val="0"/>
              </a:spcAft>
              <a:buNone/>
            </a:pPr>
            <a:r>
              <a:rPr b="1" lang="en-US" sz="4200">
                <a:solidFill>
                  <a:srgbClr val="F1F5F9"/>
                </a:solidFill>
                <a:latin typeface="Georgia"/>
                <a:ea typeface="Georgia"/>
                <a:cs typeface="Georgia"/>
                <a:sym typeface="Georgia"/>
              </a:rPr>
              <a:t>A Proposta RelatoSeg</a:t>
            </a:r>
            <a:endParaRPr b="1" sz="4200">
              <a:solidFill>
                <a:srgbClr val="F1F5F9"/>
              </a:solidFill>
              <a:latin typeface="Georgia"/>
              <a:ea typeface="Georgia"/>
              <a:cs typeface="Georgia"/>
              <a:sym typeface="Georgia"/>
            </a:endParaRPr>
          </a:p>
          <a:p>
            <a:pPr indent="0" lvl="0" marL="0" rtl="0" algn="l">
              <a:spcBef>
                <a:spcPts val="1500"/>
              </a:spcBef>
              <a:spcAft>
                <a:spcPts val="0"/>
              </a:spcAft>
              <a:buNone/>
            </a:pPr>
            <a:r>
              <a:rPr lang="en-US" sz="1800">
                <a:solidFill>
                  <a:srgbClr val="94A3B8"/>
                </a:solidFill>
              </a:rPr>
              <a:t>Automacao com IA</a:t>
            </a:r>
            <a:endParaRPr b="0" sz="1800">
              <a:solidFill>
                <a:srgbClr val="94A3B8"/>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6" name="Shape 126"/>
        <p:cNvGrpSpPr/>
        <p:nvPr/>
      </p:nvGrpSpPr>
      <p:grpSpPr>
        <a:xfrm>
          <a:off x="0" y="0"/>
          <a:ext cx="0" cy="0"/>
          <a:chOff x="0" y="0"/>
          <a:chExt cx="0" cy="0"/>
        </a:xfrm>
      </p:grpSpPr>
      <p:sp>
        <p:nvSpPr>
          <p:cNvPr id="127" name="Google Shape;127;p18"/>
          <p:cNvSpPr/>
          <p:nvPr/>
        </p:nvSpPr>
        <p:spPr>
          <a:xfrm>
            <a:off x="548640" y="209550"/>
            <a:ext cx="11094300" cy="1162200"/>
          </a:xfrm>
          <a:prstGeom prst="roundRect">
            <a:avLst>
              <a:gd fmla="val 9836" name="adj"/>
            </a:avLst>
          </a:prstGeom>
          <a:solidFill>
            <a:srgbClr val="FCFCFC"/>
          </a:solidFill>
          <a:ln cap="flat" cmpd="sng" w="14300">
            <a:solidFill>
              <a:srgbClr val="F9F9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8"/>
          <p:cNvSpPr txBox="1"/>
          <p:nvPr/>
        </p:nvSpPr>
        <p:spPr>
          <a:xfrm>
            <a:off x="548640" y="280896"/>
            <a:ext cx="11094300" cy="184800"/>
          </a:xfrm>
          <a:prstGeom prst="rect">
            <a:avLst/>
          </a:prstGeom>
          <a:solidFill>
            <a:srgbClr val="000000">
              <a:alpha val="0"/>
            </a:srgbClr>
          </a:solidFill>
          <a:ln>
            <a:noFill/>
          </a:ln>
        </p:spPr>
        <p:txBody>
          <a:bodyPr anchorCtr="0" anchor="t" bIns="0" lIns="142875" spcFirstLastPara="1" rIns="0" wrap="square" tIns="0">
            <a:spAutoFit/>
          </a:bodyPr>
          <a:lstStyle/>
          <a:p>
            <a:pPr indent="0" lvl="0" marL="0" rtl="0" algn="l">
              <a:spcBef>
                <a:spcPts val="0"/>
              </a:spcBef>
              <a:spcAft>
                <a:spcPts val="0"/>
              </a:spcAft>
              <a:buNone/>
            </a:pPr>
            <a:r>
              <a:rPr b="1" lang="en-US" sz="1200">
                <a:solidFill>
                  <a:srgbClr val="D97706"/>
                </a:solidFill>
              </a:rPr>
              <a:t>O OBJETIVO</a:t>
            </a:r>
            <a:endParaRPr b="1" sz="1200">
              <a:solidFill>
                <a:srgbClr val="D97706"/>
              </a:solidFill>
              <a:latin typeface="Arial"/>
              <a:ea typeface="Arial"/>
              <a:cs typeface="Arial"/>
              <a:sym typeface="Arial"/>
            </a:endParaRPr>
          </a:p>
        </p:txBody>
      </p:sp>
      <p:sp>
        <p:nvSpPr>
          <p:cNvPr id="129" name="Google Shape;129;p18"/>
          <p:cNvSpPr txBox="1"/>
          <p:nvPr/>
        </p:nvSpPr>
        <p:spPr>
          <a:xfrm>
            <a:off x="548640" y="476250"/>
            <a:ext cx="11094300" cy="738900"/>
          </a:xfrm>
          <a:prstGeom prst="rect">
            <a:avLst/>
          </a:prstGeom>
          <a:solidFill>
            <a:srgbClr val="000000">
              <a:alpha val="0"/>
            </a:srgbClr>
          </a:solidFill>
          <a:ln>
            <a:noFill/>
          </a:ln>
        </p:spPr>
        <p:txBody>
          <a:bodyPr anchorCtr="0" anchor="ctr" bIns="0" lIns="142875" spcFirstLastPara="1" rIns="142875" wrap="square" tIns="0">
            <a:spAutoFit/>
          </a:bodyPr>
          <a:lstStyle/>
          <a:p>
            <a:pPr indent="0" lvl="0" marL="0" rtl="0" algn="l">
              <a:spcBef>
                <a:spcPts val="0"/>
              </a:spcBef>
              <a:spcAft>
                <a:spcPts val="0"/>
              </a:spcAft>
              <a:buNone/>
            </a:pPr>
            <a:r>
              <a:rPr b="1" lang="en-US" sz="2400">
                <a:solidFill>
                  <a:srgbClr val="1E293B"/>
                </a:solidFill>
                <a:latin typeface="Georgia"/>
                <a:ea typeface="Georgia"/>
                <a:cs typeface="Georgia"/>
                <a:sym typeface="Georgia"/>
              </a:rPr>
              <a:t>Uma </a:t>
            </a:r>
            <a:r>
              <a:rPr b="1" lang="en-US" sz="2400">
                <a:solidFill>
                  <a:srgbClr val="1E293B"/>
                </a:solidFill>
                <a:latin typeface="Georgia"/>
                <a:ea typeface="Georgia"/>
                <a:cs typeface="Georgia"/>
                <a:sym typeface="Georgia"/>
              </a:rPr>
              <a:t>Arquitetura Multi-Dom</a:t>
            </a:r>
            <a:r>
              <a:rPr b="1" lang="en-US" sz="2400">
                <a:solidFill>
                  <a:srgbClr val="1E293B"/>
                </a:solidFill>
                <a:latin typeface="Georgia"/>
                <a:ea typeface="Georgia"/>
                <a:cs typeface="Georgia"/>
                <a:sym typeface="Georgia"/>
              </a:rPr>
              <a:t>ínio</a:t>
            </a:r>
            <a:endParaRPr b="1" sz="2400">
              <a:solidFill>
                <a:srgbClr val="1E293B"/>
              </a:solidFill>
              <a:latin typeface="Georgia"/>
              <a:ea typeface="Georgia"/>
              <a:cs typeface="Georgia"/>
              <a:sym typeface="Georgia"/>
            </a:endParaRPr>
          </a:p>
          <a:p>
            <a:pPr indent="0" lvl="0" marL="0" rtl="0" algn="l">
              <a:spcBef>
                <a:spcPts val="0"/>
              </a:spcBef>
              <a:spcAft>
                <a:spcPts val="0"/>
              </a:spcAft>
              <a:buNone/>
            </a:pPr>
            <a:r>
              <a:rPr b="1" lang="en-US" sz="2400">
                <a:solidFill>
                  <a:srgbClr val="1E293B"/>
                </a:solidFill>
                <a:latin typeface="Georgia"/>
                <a:ea typeface="Georgia"/>
                <a:cs typeface="Georgia"/>
                <a:sym typeface="Georgia"/>
              </a:rPr>
              <a:t>(Protocolo MCP)</a:t>
            </a:r>
            <a:endParaRPr b="1" sz="2400">
              <a:solidFill>
                <a:srgbClr val="1E293B"/>
              </a:solidFill>
              <a:latin typeface="Georgia"/>
              <a:ea typeface="Georgia"/>
              <a:cs typeface="Georgia"/>
              <a:sym typeface="Georgia"/>
            </a:endParaRPr>
          </a:p>
        </p:txBody>
      </p:sp>
      <p:sp>
        <p:nvSpPr>
          <p:cNvPr id="130" name="Google Shape;130;p18"/>
          <p:cNvSpPr/>
          <p:nvPr/>
        </p:nvSpPr>
        <p:spPr>
          <a:xfrm>
            <a:off x="691515" y="1257300"/>
            <a:ext cx="10808700" cy="19200"/>
          </a:xfrm>
          <a:prstGeom prst="rect">
            <a:avLst/>
          </a:prstGeom>
          <a:solidFill>
            <a:srgbClr val="D97706"/>
          </a:solidFill>
          <a:ln>
            <a:noFill/>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18"/>
          <p:cNvSpPr/>
          <p:nvPr/>
        </p:nvSpPr>
        <p:spPr>
          <a:xfrm>
            <a:off x="548675" y="1645925"/>
            <a:ext cx="11094300" cy="4887300"/>
          </a:xfrm>
          <a:prstGeom prst="roundRect">
            <a:avLst>
              <a:gd fmla="val 5860" name="adj"/>
            </a:avLst>
          </a:prstGeom>
          <a:solidFill>
            <a:srgbClr val="FFFFFF"/>
          </a:solidFill>
          <a:ln>
            <a:noFill/>
          </a:ln>
          <a:effectLst>
            <a:outerShdw blurRad="150000" dir="5400000" dist="30000">
              <a:srgbClr val="000000">
                <a:alpha val="14900"/>
              </a:srgbClr>
            </a:outerShdw>
          </a:effectLst>
        </p:spPr>
        <p:txBody>
          <a:bodyPr anchorCtr="0" anchor="t" bIns="228600" lIns="228600" spcFirstLastPara="1" rIns="228600" wrap="square" tIns="228600">
            <a:noAutofit/>
          </a:bodyPr>
          <a:lstStyle/>
          <a:p>
            <a:pPr indent="0" lvl="0" marL="0" marR="0" rtl="0" algn="l">
              <a:spcBef>
                <a:spcPts val="400"/>
              </a:spcBef>
              <a:spcAft>
                <a:spcPts val="0"/>
              </a:spcAft>
              <a:buNone/>
            </a:pPr>
            <a:r>
              <a:t/>
            </a:r>
            <a:endParaRPr/>
          </a:p>
        </p:txBody>
      </p:sp>
      <p:sp>
        <p:nvSpPr>
          <p:cNvPr id="132" name="Google Shape;132;p18"/>
          <p:cNvSpPr/>
          <p:nvPr/>
        </p:nvSpPr>
        <p:spPr>
          <a:xfrm>
            <a:off x="1349125" y="2245850"/>
            <a:ext cx="1811400" cy="8652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Dominio de SInistros</a:t>
            </a:r>
            <a:endParaRPr b="1">
              <a:latin typeface="Calibri"/>
              <a:ea typeface="Calibri"/>
              <a:cs typeface="Calibri"/>
              <a:sym typeface="Calibri"/>
            </a:endParaRPr>
          </a:p>
        </p:txBody>
      </p:sp>
      <p:sp>
        <p:nvSpPr>
          <p:cNvPr id="133" name="Google Shape;133;p18"/>
          <p:cNvSpPr/>
          <p:nvPr/>
        </p:nvSpPr>
        <p:spPr>
          <a:xfrm>
            <a:off x="7863175" y="2266338"/>
            <a:ext cx="1811400" cy="7995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Ecossistema da Seguradora</a:t>
            </a:r>
            <a:endParaRPr b="1">
              <a:latin typeface="Calibri"/>
              <a:ea typeface="Calibri"/>
              <a:cs typeface="Calibri"/>
              <a:sym typeface="Calibri"/>
            </a:endParaRPr>
          </a:p>
        </p:txBody>
      </p:sp>
      <p:sp>
        <p:nvSpPr>
          <p:cNvPr id="134" name="Google Shape;134;p18"/>
          <p:cNvSpPr/>
          <p:nvPr/>
        </p:nvSpPr>
        <p:spPr>
          <a:xfrm>
            <a:off x="10708325" y="1875125"/>
            <a:ext cx="422100" cy="2856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5" name="Google Shape;135;p18"/>
          <p:cNvSpPr/>
          <p:nvPr/>
        </p:nvSpPr>
        <p:spPr>
          <a:xfrm>
            <a:off x="10167575" y="2245863"/>
            <a:ext cx="422100" cy="2337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6" name="Google Shape;136;p18"/>
          <p:cNvSpPr/>
          <p:nvPr/>
        </p:nvSpPr>
        <p:spPr>
          <a:xfrm>
            <a:off x="10167575" y="3103138"/>
            <a:ext cx="422100" cy="2337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7" name="Google Shape;137;p18"/>
          <p:cNvSpPr/>
          <p:nvPr/>
        </p:nvSpPr>
        <p:spPr>
          <a:xfrm>
            <a:off x="10622075" y="3453125"/>
            <a:ext cx="422100" cy="2337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138" name="Google Shape;138;p18"/>
          <p:cNvCxnSpPr>
            <a:stCxn id="133" idx="0"/>
            <a:endCxn id="134" idx="1"/>
          </p:cNvCxnSpPr>
          <p:nvPr/>
        </p:nvCxnSpPr>
        <p:spPr>
          <a:xfrm rot="-5400000">
            <a:off x="9614425" y="1172388"/>
            <a:ext cx="248400" cy="1939500"/>
          </a:xfrm>
          <a:prstGeom prst="bentConnector2">
            <a:avLst/>
          </a:prstGeom>
          <a:noFill/>
          <a:ln cap="flat" cmpd="sng" w="19050">
            <a:solidFill>
              <a:schemeClr val="dk2"/>
            </a:solidFill>
            <a:prstDash val="solid"/>
            <a:round/>
            <a:headEnd len="med" w="med" type="none"/>
            <a:tailEnd len="med" w="med" type="none"/>
          </a:ln>
        </p:spPr>
      </p:cxnSp>
      <p:cxnSp>
        <p:nvCxnSpPr>
          <p:cNvPr id="139" name="Google Shape;139;p18"/>
          <p:cNvCxnSpPr>
            <a:stCxn id="133" idx="3"/>
            <a:endCxn id="135" idx="1"/>
          </p:cNvCxnSpPr>
          <p:nvPr/>
        </p:nvCxnSpPr>
        <p:spPr>
          <a:xfrm flipH="1" rot="10800000">
            <a:off x="9674575" y="2362788"/>
            <a:ext cx="492900" cy="303300"/>
          </a:xfrm>
          <a:prstGeom prst="bentConnector3">
            <a:avLst>
              <a:gd fmla="val 50010" name="adj1"/>
            </a:avLst>
          </a:prstGeom>
          <a:noFill/>
          <a:ln cap="flat" cmpd="sng" w="19050">
            <a:solidFill>
              <a:schemeClr val="dk2"/>
            </a:solidFill>
            <a:prstDash val="solid"/>
            <a:round/>
            <a:headEnd len="med" w="med" type="none"/>
            <a:tailEnd len="med" w="med" type="none"/>
          </a:ln>
        </p:spPr>
      </p:cxnSp>
      <p:cxnSp>
        <p:nvCxnSpPr>
          <p:cNvPr id="140" name="Google Shape;140;p18"/>
          <p:cNvCxnSpPr>
            <a:stCxn id="133" idx="3"/>
            <a:endCxn id="136" idx="1"/>
          </p:cNvCxnSpPr>
          <p:nvPr/>
        </p:nvCxnSpPr>
        <p:spPr>
          <a:xfrm>
            <a:off x="9674575" y="2666088"/>
            <a:ext cx="492900" cy="553800"/>
          </a:xfrm>
          <a:prstGeom prst="bentConnector3">
            <a:avLst>
              <a:gd fmla="val 50010" name="adj1"/>
            </a:avLst>
          </a:prstGeom>
          <a:noFill/>
          <a:ln cap="flat" cmpd="sng" w="19050">
            <a:solidFill>
              <a:schemeClr val="dk2"/>
            </a:solidFill>
            <a:prstDash val="solid"/>
            <a:round/>
            <a:headEnd len="med" w="med" type="none"/>
            <a:tailEnd len="med" w="med" type="none"/>
          </a:ln>
        </p:spPr>
      </p:cxnSp>
      <p:cxnSp>
        <p:nvCxnSpPr>
          <p:cNvPr id="141" name="Google Shape;141;p18"/>
          <p:cNvCxnSpPr>
            <a:stCxn id="137" idx="1"/>
            <a:endCxn id="133" idx="2"/>
          </p:cNvCxnSpPr>
          <p:nvPr/>
        </p:nvCxnSpPr>
        <p:spPr>
          <a:xfrm rot="10800000">
            <a:off x="8768975" y="3065975"/>
            <a:ext cx="1853100" cy="504000"/>
          </a:xfrm>
          <a:prstGeom prst="bentConnector2">
            <a:avLst/>
          </a:prstGeom>
          <a:noFill/>
          <a:ln cap="flat" cmpd="sng" w="19050">
            <a:solidFill>
              <a:schemeClr val="dk2"/>
            </a:solidFill>
            <a:prstDash val="solid"/>
            <a:round/>
            <a:headEnd len="med" w="med" type="none"/>
            <a:tailEnd len="med" w="med" type="none"/>
          </a:ln>
        </p:spPr>
      </p:cxnSp>
      <p:sp>
        <p:nvSpPr>
          <p:cNvPr id="142" name="Google Shape;142;p18"/>
          <p:cNvSpPr/>
          <p:nvPr/>
        </p:nvSpPr>
        <p:spPr>
          <a:xfrm>
            <a:off x="3392475" y="2161025"/>
            <a:ext cx="4259100" cy="1006200"/>
          </a:xfrm>
          <a:prstGeom prst="homePlate">
            <a:avLst>
              <a:gd fmla="val 50000"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a:latin typeface="Calibri"/>
                <a:ea typeface="Calibri"/>
                <a:cs typeface="Calibri"/>
                <a:sym typeface="Calibri"/>
              </a:rPr>
              <a:t>O </a:t>
            </a:r>
            <a:r>
              <a:rPr b="1" lang="en-US">
                <a:latin typeface="Calibri"/>
                <a:ea typeface="Calibri"/>
                <a:cs typeface="Calibri"/>
                <a:sym typeface="Calibri"/>
              </a:rPr>
              <a:t>RelatoSeg</a:t>
            </a:r>
            <a:r>
              <a:rPr lang="en-US">
                <a:latin typeface="Calibri"/>
                <a:ea typeface="Calibri"/>
                <a:cs typeface="Calibri"/>
                <a:sym typeface="Calibri"/>
              </a:rPr>
              <a:t> não é apenas um automatizador de sinistro. É uma arquitetura de </a:t>
            </a:r>
            <a:r>
              <a:rPr lang="en-US">
                <a:latin typeface="Calibri"/>
                <a:ea typeface="Calibri"/>
                <a:cs typeface="Calibri"/>
                <a:sym typeface="Calibri"/>
              </a:rPr>
              <a:t>referência</a:t>
            </a:r>
            <a:r>
              <a:rPr lang="en-US">
                <a:latin typeface="Calibri"/>
                <a:ea typeface="Calibri"/>
                <a:cs typeface="Calibri"/>
                <a:sym typeface="Calibri"/>
              </a:rPr>
              <a:t> </a:t>
            </a:r>
            <a:r>
              <a:rPr lang="en-US">
                <a:latin typeface="Calibri"/>
                <a:ea typeface="Calibri"/>
                <a:cs typeface="Calibri"/>
                <a:sym typeface="Calibri"/>
              </a:rPr>
              <a:t>distribuída.</a:t>
            </a:r>
            <a:r>
              <a:rPr lang="en-US">
                <a:latin typeface="Calibri"/>
                <a:ea typeface="Calibri"/>
                <a:cs typeface="Calibri"/>
                <a:sym typeface="Calibri"/>
              </a:rPr>
              <a:t> </a:t>
            </a:r>
            <a:endParaRPr>
              <a:latin typeface="Calibri"/>
              <a:ea typeface="Calibri"/>
              <a:cs typeface="Calibri"/>
              <a:sym typeface="Calibri"/>
            </a:endParaRPr>
          </a:p>
        </p:txBody>
      </p:sp>
      <p:sp>
        <p:nvSpPr>
          <p:cNvPr id="143" name="Google Shape;143;p18"/>
          <p:cNvSpPr/>
          <p:nvPr/>
        </p:nvSpPr>
        <p:spPr>
          <a:xfrm>
            <a:off x="10535825" y="2664113"/>
            <a:ext cx="594600" cy="2856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144" name="Google Shape;144;p18"/>
          <p:cNvCxnSpPr>
            <a:stCxn id="133" idx="3"/>
            <a:endCxn id="143" idx="1"/>
          </p:cNvCxnSpPr>
          <p:nvPr/>
        </p:nvCxnSpPr>
        <p:spPr>
          <a:xfrm>
            <a:off x="9674575" y="2666088"/>
            <a:ext cx="861300" cy="140700"/>
          </a:xfrm>
          <a:prstGeom prst="bentConnector3">
            <a:avLst>
              <a:gd fmla="val 49997" name="adj1"/>
            </a:avLst>
          </a:prstGeom>
          <a:noFill/>
          <a:ln cap="flat" cmpd="sng" w="19050">
            <a:solidFill>
              <a:schemeClr val="dk2"/>
            </a:solidFill>
            <a:prstDash val="solid"/>
            <a:round/>
            <a:headEnd len="med" w="med" type="none"/>
            <a:tailEnd len="med" w="med" type="none"/>
          </a:ln>
        </p:spPr>
      </p:cxnSp>
      <p:sp>
        <p:nvSpPr>
          <p:cNvPr id="145" name="Google Shape;145;p18"/>
          <p:cNvSpPr/>
          <p:nvPr/>
        </p:nvSpPr>
        <p:spPr>
          <a:xfrm>
            <a:off x="1211725" y="4051750"/>
            <a:ext cx="2982300" cy="2173200"/>
          </a:xfrm>
          <a:prstGeom prst="roundRect">
            <a:avLst>
              <a:gd fmla="val 4883" name="adj"/>
            </a:avLst>
          </a:prstGeom>
          <a:solidFill>
            <a:srgbClr val="D9D9D9"/>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46" name="Google Shape;146;p18"/>
          <p:cNvSpPr/>
          <p:nvPr/>
        </p:nvSpPr>
        <p:spPr>
          <a:xfrm>
            <a:off x="1101800" y="3956500"/>
            <a:ext cx="2982300" cy="2173200"/>
          </a:xfrm>
          <a:prstGeom prst="roundRect">
            <a:avLst>
              <a:gd fmla="val 4537" name="adj"/>
            </a:avLst>
          </a:prstGeom>
          <a:solidFill>
            <a:srgbClr val="FCFCF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rPr b="1" lang="en-US">
                <a:latin typeface="Calibri"/>
                <a:ea typeface="Calibri"/>
                <a:cs typeface="Calibri"/>
                <a:sym typeface="Calibri"/>
              </a:rPr>
              <a:t>Orquestracao inteligente</a:t>
            </a:r>
            <a:r>
              <a:rPr lang="en-US">
                <a:latin typeface="Calibri"/>
                <a:ea typeface="Calibri"/>
                <a:cs typeface="Calibri"/>
                <a:sym typeface="Calibri"/>
              </a:rPr>
              <a:t>: Agentes de IA (LLMs) coordenados centralmente vía Model Context Protocol (MCP).</a:t>
            </a:r>
            <a:endParaRPr>
              <a:latin typeface="Calibri"/>
              <a:ea typeface="Calibri"/>
              <a:cs typeface="Calibri"/>
              <a:sym typeface="Calibri"/>
            </a:endParaRPr>
          </a:p>
        </p:txBody>
      </p:sp>
      <p:sp>
        <p:nvSpPr>
          <p:cNvPr id="147" name="Google Shape;147;p18"/>
          <p:cNvSpPr/>
          <p:nvPr/>
        </p:nvSpPr>
        <p:spPr>
          <a:xfrm>
            <a:off x="4794150" y="4051750"/>
            <a:ext cx="2982300" cy="2173200"/>
          </a:xfrm>
          <a:prstGeom prst="roundRect">
            <a:avLst>
              <a:gd fmla="val 4500" name="adj"/>
            </a:avLst>
          </a:prstGeom>
          <a:solidFill>
            <a:srgbClr val="D9D9D9"/>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48" name="Google Shape;148;p18"/>
          <p:cNvSpPr/>
          <p:nvPr/>
        </p:nvSpPr>
        <p:spPr>
          <a:xfrm>
            <a:off x="4650274" y="3956500"/>
            <a:ext cx="2982300" cy="2173200"/>
          </a:xfrm>
          <a:prstGeom prst="roundRect">
            <a:avLst>
              <a:gd fmla="val 4563" name="adj"/>
            </a:avLst>
          </a:prstGeom>
          <a:solidFill>
            <a:srgbClr val="FCFCF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rPr b="1" lang="en-US">
                <a:latin typeface="Calibri"/>
                <a:ea typeface="Calibri"/>
                <a:cs typeface="Calibri"/>
                <a:sym typeface="Calibri"/>
              </a:rPr>
              <a:t>Extensibilidade Zero-Touch</a:t>
            </a:r>
            <a:r>
              <a:rPr lang="en-US">
                <a:latin typeface="Calibri"/>
                <a:ea typeface="Calibri"/>
                <a:cs typeface="Calibri"/>
                <a:sym typeface="Calibri"/>
              </a:rPr>
              <a:t>: Novas </a:t>
            </a:r>
            <a:r>
              <a:rPr lang="en-US">
                <a:latin typeface="Calibri"/>
                <a:ea typeface="Calibri"/>
                <a:cs typeface="Calibri"/>
                <a:sym typeface="Calibri"/>
              </a:rPr>
              <a:t>áreas </a:t>
            </a:r>
            <a:r>
              <a:rPr lang="en-US">
                <a:latin typeface="Calibri"/>
                <a:ea typeface="Calibri"/>
                <a:cs typeface="Calibri"/>
                <a:sym typeface="Calibri"/>
              </a:rPr>
              <a:t>de </a:t>
            </a:r>
            <a:r>
              <a:rPr lang="en-US">
                <a:latin typeface="Calibri"/>
                <a:ea typeface="Calibri"/>
                <a:cs typeface="Calibri"/>
                <a:sym typeface="Calibri"/>
              </a:rPr>
              <a:t>negócio</a:t>
            </a:r>
            <a:r>
              <a:rPr lang="en-US">
                <a:latin typeface="Calibri"/>
                <a:ea typeface="Calibri"/>
                <a:cs typeface="Calibri"/>
                <a:sym typeface="Calibri"/>
              </a:rPr>
              <a:t> criam apenas o seu proprio MCP Server. O motor central(MCP Host) permanece inalterado..</a:t>
            </a:r>
            <a:endParaRPr>
              <a:latin typeface="Calibri"/>
              <a:ea typeface="Calibri"/>
              <a:cs typeface="Calibri"/>
              <a:sym typeface="Calibri"/>
            </a:endParaRPr>
          </a:p>
        </p:txBody>
      </p:sp>
      <p:sp>
        <p:nvSpPr>
          <p:cNvPr id="149" name="Google Shape;149;p18"/>
          <p:cNvSpPr/>
          <p:nvPr/>
        </p:nvSpPr>
        <p:spPr>
          <a:xfrm>
            <a:off x="8358438" y="4068712"/>
            <a:ext cx="2710800" cy="2173200"/>
          </a:xfrm>
          <a:prstGeom prst="roundRect">
            <a:avLst>
              <a:gd fmla="val 5648" name="adj"/>
            </a:avLst>
          </a:prstGeom>
          <a:solidFill>
            <a:srgbClr val="D9D9D9"/>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50" name="Google Shape;150;p18"/>
          <p:cNvSpPr/>
          <p:nvPr/>
        </p:nvSpPr>
        <p:spPr>
          <a:xfrm>
            <a:off x="8148173" y="3960417"/>
            <a:ext cx="2824200" cy="2173200"/>
          </a:xfrm>
          <a:prstGeom prst="roundRect">
            <a:avLst>
              <a:gd fmla="val 5716" name="adj"/>
            </a:avLst>
          </a:prstGeom>
          <a:solidFill>
            <a:srgbClr val="FCFCF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rPr b="1" lang="en-US">
                <a:latin typeface="Calibri"/>
                <a:ea typeface="Calibri"/>
                <a:cs typeface="Calibri"/>
                <a:sym typeface="Calibri"/>
              </a:rPr>
              <a:t>Decisões</a:t>
            </a:r>
            <a:r>
              <a:rPr b="1" lang="en-US">
                <a:latin typeface="Calibri"/>
                <a:ea typeface="Calibri"/>
                <a:cs typeface="Calibri"/>
                <a:sym typeface="Calibri"/>
              </a:rPr>
              <a:t> </a:t>
            </a:r>
            <a:r>
              <a:rPr b="1" lang="en-US">
                <a:latin typeface="Calibri"/>
                <a:ea typeface="Calibri"/>
                <a:cs typeface="Calibri"/>
                <a:sym typeface="Calibri"/>
              </a:rPr>
              <a:t>Auditáveis</a:t>
            </a:r>
            <a:r>
              <a:rPr lang="en-US">
                <a:latin typeface="Calibri"/>
                <a:ea typeface="Calibri"/>
                <a:cs typeface="Calibri"/>
                <a:sym typeface="Calibri"/>
              </a:rPr>
              <a:t>: </a:t>
            </a:r>
            <a:r>
              <a:rPr lang="en-US">
                <a:latin typeface="Calibri"/>
                <a:ea typeface="Calibri"/>
                <a:cs typeface="Calibri"/>
                <a:sym typeface="Calibri"/>
              </a:rPr>
              <a:t>Rastreabilidade</a:t>
            </a:r>
            <a:r>
              <a:rPr lang="en-US">
                <a:latin typeface="Calibri"/>
                <a:ea typeface="Calibri"/>
                <a:cs typeface="Calibri"/>
                <a:sym typeface="Calibri"/>
              </a:rPr>
              <a:t> de ponta-ponta, cruzando </a:t>
            </a:r>
            <a:r>
              <a:rPr lang="en-US">
                <a:latin typeface="Calibri"/>
                <a:ea typeface="Calibri"/>
                <a:cs typeface="Calibri"/>
                <a:sym typeface="Calibri"/>
              </a:rPr>
              <a:t>evidências</a:t>
            </a:r>
            <a:r>
              <a:rPr lang="en-US">
                <a:latin typeface="Calibri"/>
                <a:ea typeface="Calibri"/>
                <a:cs typeface="Calibri"/>
                <a:sym typeface="Calibri"/>
              </a:rPr>
              <a:t> estruturadas e </a:t>
            </a:r>
            <a:r>
              <a:rPr lang="en-US">
                <a:latin typeface="Calibri"/>
                <a:ea typeface="Calibri"/>
                <a:cs typeface="Calibri"/>
                <a:sym typeface="Calibri"/>
              </a:rPr>
              <a:t>não</a:t>
            </a:r>
            <a:r>
              <a:rPr lang="en-US">
                <a:latin typeface="Calibri"/>
                <a:ea typeface="Calibri"/>
                <a:cs typeface="Calibri"/>
                <a:sym typeface="Calibri"/>
              </a:rPr>
              <a:t> estruturadas.</a:t>
            </a:r>
            <a:endParaRPr>
              <a:latin typeface="Calibri"/>
              <a:ea typeface="Calibri"/>
              <a:cs typeface="Calibri"/>
              <a:sym typeface="Calibri"/>
            </a:endParaRPr>
          </a:p>
        </p:txBody>
      </p:sp>
      <p:pic>
        <p:nvPicPr>
          <p:cNvPr id="151" name="Google Shape;151;p18" title="power-cord.png"/>
          <p:cNvPicPr preferRelativeResize="0"/>
          <p:nvPr/>
        </p:nvPicPr>
        <p:blipFill>
          <a:blip r:embed="rId4">
            <a:alphaModFix/>
          </a:blip>
          <a:stretch>
            <a:fillRect/>
          </a:stretch>
        </p:blipFill>
        <p:spPr>
          <a:xfrm>
            <a:off x="5658100" y="4113100"/>
            <a:ext cx="738900" cy="738900"/>
          </a:xfrm>
          <a:prstGeom prst="rect">
            <a:avLst/>
          </a:prstGeom>
          <a:noFill/>
          <a:ln>
            <a:noFill/>
          </a:ln>
        </p:spPr>
      </p:pic>
      <p:pic>
        <p:nvPicPr>
          <p:cNvPr id="152" name="Google Shape;152;p18" title="search.png"/>
          <p:cNvPicPr preferRelativeResize="0"/>
          <p:nvPr/>
        </p:nvPicPr>
        <p:blipFill>
          <a:blip r:embed="rId5">
            <a:alphaModFix/>
          </a:blip>
          <a:stretch>
            <a:fillRect/>
          </a:stretch>
        </p:blipFill>
        <p:spPr>
          <a:xfrm>
            <a:off x="9341150" y="4222825"/>
            <a:ext cx="628650" cy="609600"/>
          </a:xfrm>
          <a:prstGeom prst="rect">
            <a:avLst/>
          </a:prstGeom>
          <a:noFill/>
          <a:ln>
            <a:noFill/>
          </a:ln>
        </p:spPr>
      </p:pic>
      <p:pic>
        <p:nvPicPr>
          <p:cNvPr id="153" name="Google Shape;153;p18" title="sitemap.png"/>
          <p:cNvPicPr preferRelativeResize="0"/>
          <p:nvPr/>
        </p:nvPicPr>
        <p:blipFill>
          <a:blip r:embed="rId6">
            <a:alphaModFix/>
          </a:blip>
          <a:stretch>
            <a:fillRect/>
          </a:stretch>
        </p:blipFill>
        <p:spPr>
          <a:xfrm>
            <a:off x="2223500" y="4080400"/>
            <a:ext cx="738900" cy="738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19"/>
          <p:cNvPicPr preferRelativeResize="0"/>
          <p:nvPr/>
        </p:nvPicPr>
        <p:blipFill rotWithShape="1">
          <a:blip r:embed="rId3">
            <a:alphaModFix/>
          </a:blip>
          <a:srcRect b="0" l="387" r="387" t="0"/>
          <a:stretch/>
        </p:blipFill>
        <p:spPr>
          <a:xfrm>
            <a:off x="0" y="0"/>
            <a:ext cx="12192000" cy="6858000"/>
          </a:xfrm>
          <a:prstGeom prst="rect">
            <a:avLst/>
          </a:prstGeom>
          <a:noFill/>
          <a:ln>
            <a:noFill/>
          </a:ln>
        </p:spPr>
      </p:pic>
      <p:sp>
        <p:nvSpPr>
          <p:cNvPr id="159" name="Google Shape;159;p19"/>
          <p:cNvSpPr/>
          <p:nvPr/>
        </p:nvSpPr>
        <p:spPr>
          <a:xfrm>
            <a:off x="552450" y="1143000"/>
            <a:ext cx="11087100" cy="4572000"/>
          </a:xfrm>
          <a:prstGeom prst="roundRect">
            <a:avLst>
              <a:gd fmla="val 4166" name="adj"/>
            </a:avLst>
          </a:prstGeom>
          <a:solidFill>
            <a:srgbClr val="0F172A">
              <a:alpha val="85000"/>
            </a:srgbClr>
          </a:solidFill>
          <a:ln cap="flat" cmpd="sng" w="1905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60" name="Google Shape;160;p19"/>
          <p:cNvCxnSpPr/>
          <p:nvPr/>
        </p:nvCxnSpPr>
        <p:spPr>
          <a:xfrm>
            <a:off x="1143000" y="3429000"/>
            <a:ext cx="1905000" cy="0"/>
          </a:xfrm>
          <a:prstGeom prst="straightConnector1">
            <a:avLst/>
          </a:prstGeom>
          <a:solidFill>
            <a:srgbClr val="FFFFFF"/>
          </a:solidFill>
          <a:ln cap="flat" cmpd="sng" w="57150">
            <a:solidFill>
              <a:srgbClr val="D97706"/>
            </a:solidFill>
            <a:prstDash val="solid"/>
            <a:round/>
            <a:headEnd len="sm" w="sm" type="none"/>
            <a:tailEnd len="sm" w="sm" type="none"/>
          </a:ln>
        </p:spPr>
      </p:cxnSp>
      <p:sp>
        <p:nvSpPr>
          <p:cNvPr id="161" name="Google Shape;161;p19"/>
          <p:cNvSpPr txBox="1"/>
          <p:nvPr/>
        </p:nvSpPr>
        <p:spPr>
          <a:xfrm>
            <a:off x="1143000" y="2286000"/>
            <a:ext cx="9906000" cy="304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D97706"/>
                </a:solidFill>
                <a:latin typeface="Georgia"/>
                <a:ea typeface="Georgia"/>
                <a:cs typeface="Georgia"/>
                <a:sym typeface="Georgia"/>
              </a:rPr>
              <a:t>CAPÍTULO 3</a:t>
            </a:r>
            <a:endParaRPr b="1" sz="1600">
              <a:solidFill>
                <a:srgbClr val="D97706"/>
              </a:solidFill>
              <a:latin typeface="Georgia"/>
              <a:ea typeface="Georgia"/>
              <a:cs typeface="Georgia"/>
              <a:sym typeface="Georgia"/>
            </a:endParaRPr>
          </a:p>
          <a:p>
            <a:pPr indent="0" lvl="0" marL="0" rtl="0" algn="l">
              <a:spcBef>
                <a:spcPts val="1125"/>
              </a:spcBef>
              <a:spcAft>
                <a:spcPts val="0"/>
              </a:spcAft>
              <a:buNone/>
            </a:pPr>
            <a:r>
              <a:rPr b="1" lang="en-US" sz="4200">
                <a:solidFill>
                  <a:srgbClr val="F1F5F9"/>
                </a:solidFill>
                <a:latin typeface="Georgia"/>
                <a:ea typeface="Georgia"/>
                <a:cs typeface="Georgia"/>
                <a:sym typeface="Georgia"/>
              </a:rPr>
              <a:t>Desenho Arquitetural</a:t>
            </a:r>
            <a:endParaRPr b="1" sz="4200">
              <a:solidFill>
                <a:srgbClr val="F1F5F9"/>
              </a:solidFill>
              <a:latin typeface="Georgia"/>
              <a:ea typeface="Georgia"/>
              <a:cs typeface="Georgia"/>
              <a:sym typeface="Georgia"/>
            </a:endParaRPr>
          </a:p>
          <a:p>
            <a:pPr indent="0" lvl="0" marL="0" rtl="0" algn="l">
              <a:spcBef>
                <a:spcPts val="1500"/>
              </a:spcBef>
              <a:spcAft>
                <a:spcPts val="0"/>
              </a:spcAft>
              <a:buNone/>
            </a:pPr>
            <a:r>
              <a:rPr lang="en-US" sz="1800">
                <a:solidFill>
                  <a:srgbClr val="94A3B8"/>
                </a:solidFill>
              </a:rPr>
              <a:t>Modelos</a:t>
            </a:r>
            <a:endParaRPr b="0" sz="1800">
              <a:solidFill>
                <a:srgbClr val="94A3B8"/>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6" name="Shape 166"/>
        <p:cNvGrpSpPr/>
        <p:nvPr/>
      </p:nvGrpSpPr>
      <p:grpSpPr>
        <a:xfrm>
          <a:off x="0" y="0"/>
          <a:ext cx="0" cy="0"/>
          <a:chOff x="0" y="0"/>
          <a:chExt cx="0" cy="0"/>
        </a:xfrm>
      </p:grpSpPr>
      <p:sp>
        <p:nvSpPr>
          <p:cNvPr id="167" name="Google Shape;167;p20"/>
          <p:cNvSpPr/>
          <p:nvPr/>
        </p:nvSpPr>
        <p:spPr>
          <a:xfrm>
            <a:off x="548640" y="209550"/>
            <a:ext cx="11094300" cy="1162200"/>
          </a:xfrm>
          <a:prstGeom prst="roundRect">
            <a:avLst>
              <a:gd fmla="val 9836" name="adj"/>
            </a:avLst>
          </a:prstGeom>
          <a:solidFill>
            <a:srgbClr val="FCFCFC"/>
          </a:solidFill>
          <a:ln cap="flat" cmpd="sng" w="14300">
            <a:solidFill>
              <a:srgbClr val="F9F9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20"/>
          <p:cNvSpPr txBox="1"/>
          <p:nvPr/>
        </p:nvSpPr>
        <p:spPr>
          <a:xfrm>
            <a:off x="548640" y="254800"/>
            <a:ext cx="11094300" cy="184800"/>
          </a:xfrm>
          <a:prstGeom prst="rect">
            <a:avLst/>
          </a:prstGeom>
          <a:solidFill>
            <a:srgbClr val="000000">
              <a:alpha val="0"/>
            </a:srgbClr>
          </a:solidFill>
          <a:ln>
            <a:noFill/>
          </a:ln>
        </p:spPr>
        <p:txBody>
          <a:bodyPr anchorCtr="0" anchor="t" bIns="0" lIns="142875" spcFirstLastPara="1" rIns="0" wrap="square" tIns="0">
            <a:spAutoFit/>
          </a:bodyPr>
          <a:lstStyle/>
          <a:p>
            <a:pPr indent="0" lvl="0" marL="0" rtl="0" algn="l">
              <a:spcBef>
                <a:spcPts val="0"/>
              </a:spcBef>
              <a:spcAft>
                <a:spcPts val="0"/>
              </a:spcAft>
              <a:buNone/>
            </a:pPr>
            <a:r>
              <a:rPr b="1" lang="en-US" sz="1200">
                <a:solidFill>
                  <a:srgbClr val="D97706"/>
                </a:solidFill>
              </a:rPr>
              <a:t>FLUXO DE CONTEXTO</a:t>
            </a:r>
            <a:endParaRPr b="1" sz="1200">
              <a:solidFill>
                <a:srgbClr val="D97706"/>
              </a:solidFill>
              <a:latin typeface="Arial"/>
              <a:ea typeface="Arial"/>
              <a:cs typeface="Arial"/>
              <a:sym typeface="Arial"/>
            </a:endParaRPr>
          </a:p>
        </p:txBody>
      </p:sp>
      <p:sp>
        <p:nvSpPr>
          <p:cNvPr id="169" name="Google Shape;169;p20"/>
          <p:cNvSpPr txBox="1"/>
          <p:nvPr/>
        </p:nvSpPr>
        <p:spPr>
          <a:xfrm>
            <a:off x="548640" y="476250"/>
            <a:ext cx="11094300" cy="738900"/>
          </a:xfrm>
          <a:prstGeom prst="rect">
            <a:avLst/>
          </a:prstGeom>
          <a:solidFill>
            <a:srgbClr val="000000">
              <a:alpha val="0"/>
            </a:srgbClr>
          </a:solidFill>
          <a:ln>
            <a:noFill/>
          </a:ln>
        </p:spPr>
        <p:txBody>
          <a:bodyPr anchorCtr="0" anchor="ctr" bIns="0" lIns="142875" spcFirstLastPara="1" rIns="142875" wrap="square" tIns="0">
            <a:spAutoFit/>
          </a:bodyPr>
          <a:lstStyle/>
          <a:p>
            <a:pPr indent="0" lvl="0" marL="0" rtl="0" algn="l">
              <a:spcBef>
                <a:spcPts val="0"/>
              </a:spcBef>
              <a:spcAft>
                <a:spcPts val="0"/>
              </a:spcAft>
              <a:buNone/>
            </a:pPr>
            <a:r>
              <a:rPr b="1" lang="en-US" sz="2400">
                <a:solidFill>
                  <a:srgbClr val="1E293B"/>
                </a:solidFill>
                <a:latin typeface="Georgia"/>
                <a:ea typeface="Georgia"/>
                <a:cs typeface="Georgia"/>
                <a:sym typeface="Georgia"/>
              </a:rPr>
              <a:t>Atores e Interfaces </a:t>
            </a:r>
            <a:endParaRPr b="1" sz="2400">
              <a:solidFill>
                <a:srgbClr val="1E293B"/>
              </a:solidFill>
              <a:latin typeface="Georgia"/>
              <a:ea typeface="Georgia"/>
              <a:cs typeface="Georgia"/>
              <a:sym typeface="Georgia"/>
            </a:endParaRPr>
          </a:p>
          <a:p>
            <a:pPr indent="0" lvl="0" marL="0" rtl="0" algn="l">
              <a:spcBef>
                <a:spcPts val="0"/>
              </a:spcBef>
              <a:spcAft>
                <a:spcPts val="0"/>
              </a:spcAft>
              <a:buNone/>
            </a:pPr>
            <a:r>
              <a:rPr b="1" lang="en-US" sz="2400">
                <a:solidFill>
                  <a:srgbClr val="1E293B"/>
                </a:solidFill>
                <a:latin typeface="Georgia"/>
                <a:ea typeface="Georgia"/>
                <a:cs typeface="Georgia"/>
                <a:sym typeface="Georgia"/>
              </a:rPr>
              <a:t>de Negócio</a:t>
            </a:r>
            <a:endParaRPr b="1" sz="2400">
              <a:solidFill>
                <a:srgbClr val="1E293B"/>
              </a:solidFill>
              <a:latin typeface="Georgia"/>
              <a:ea typeface="Georgia"/>
              <a:cs typeface="Georgia"/>
              <a:sym typeface="Georgia"/>
            </a:endParaRPr>
          </a:p>
        </p:txBody>
      </p:sp>
      <p:sp>
        <p:nvSpPr>
          <p:cNvPr id="170" name="Google Shape;170;p20"/>
          <p:cNvSpPr/>
          <p:nvPr/>
        </p:nvSpPr>
        <p:spPr>
          <a:xfrm>
            <a:off x="691515" y="1257300"/>
            <a:ext cx="10808700" cy="19200"/>
          </a:xfrm>
          <a:prstGeom prst="rect">
            <a:avLst/>
          </a:prstGeom>
          <a:solidFill>
            <a:srgbClr val="D97706"/>
          </a:solidFill>
          <a:ln>
            <a:noFill/>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20"/>
          <p:cNvSpPr/>
          <p:nvPr/>
        </p:nvSpPr>
        <p:spPr>
          <a:xfrm>
            <a:off x="548675" y="1645925"/>
            <a:ext cx="11094300" cy="4887300"/>
          </a:xfrm>
          <a:prstGeom prst="roundRect">
            <a:avLst>
              <a:gd fmla="val 5860" name="adj"/>
            </a:avLst>
          </a:prstGeom>
          <a:solidFill>
            <a:srgbClr val="FFFFFF"/>
          </a:solidFill>
          <a:ln>
            <a:noFill/>
          </a:ln>
          <a:effectLst>
            <a:outerShdw blurRad="150000" dir="5400000" dist="30000">
              <a:srgbClr val="000000">
                <a:alpha val="14900"/>
              </a:srgbClr>
            </a:outerShdw>
          </a:effectLst>
        </p:spPr>
        <p:txBody>
          <a:bodyPr anchorCtr="0" anchor="t" bIns="228600" lIns="228600" spcFirstLastPara="1" rIns="228600" wrap="square" tIns="228600">
            <a:noAutofit/>
          </a:bodyPr>
          <a:lstStyle/>
          <a:p>
            <a:pPr indent="0" lvl="0" marL="0" marR="0" rtl="0" algn="l">
              <a:spcBef>
                <a:spcPts val="400"/>
              </a:spcBef>
              <a:spcAft>
                <a:spcPts val="0"/>
              </a:spcAft>
              <a:buNone/>
            </a:pPr>
            <a:r>
              <a:t/>
            </a:r>
            <a:endParaRPr/>
          </a:p>
        </p:txBody>
      </p:sp>
      <p:sp>
        <p:nvSpPr>
          <p:cNvPr id="172" name="Google Shape;172;p20"/>
          <p:cNvSpPr/>
          <p:nvPr/>
        </p:nvSpPr>
        <p:spPr>
          <a:xfrm>
            <a:off x="1218650" y="2861496"/>
            <a:ext cx="1560600" cy="6840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Segurada</a:t>
            </a:r>
            <a:endParaRPr b="1">
              <a:latin typeface="Calibri"/>
              <a:ea typeface="Calibri"/>
              <a:cs typeface="Calibri"/>
              <a:sym typeface="Calibri"/>
            </a:endParaRPr>
          </a:p>
          <a:p>
            <a:pPr indent="0" lvl="0" marL="0" rtl="0" algn="ctr">
              <a:spcBef>
                <a:spcPts val="0"/>
              </a:spcBef>
              <a:spcAft>
                <a:spcPts val="0"/>
              </a:spcAft>
              <a:buNone/>
            </a:pPr>
            <a:r>
              <a:rPr b="1" lang="en-US">
                <a:latin typeface="Calibri"/>
                <a:ea typeface="Calibri"/>
                <a:cs typeface="Calibri"/>
                <a:sym typeface="Calibri"/>
              </a:rPr>
              <a:t>(Mobile/Web)</a:t>
            </a:r>
            <a:endParaRPr b="1">
              <a:latin typeface="Calibri"/>
              <a:ea typeface="Calibri"/>
              <a:cs typeface="Calibri"/>
              <a:sym typeface="Calibri"/>
            </a:endParaRPr>
          </a:p>
        </p:txBody>
      </p:sp>
      <p:sp>
        <p:nvSpPr>
          <p:cNvPr id="173" name="Google Shape;173;p20"/>
          <p:cNvSpPr/>
          <p:nvPr/>
        </p:nvSpPr>
        <p:spPr>
          <a:xfrm>
            <a:off x="9115787" y="3624707"/>
            <a:ext cx="1811400" cy="7995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Notificações</a:t>
            </a:r>
            <a:r>
              <a:rPr b="1" lang="en-US">
                <a:latin typeface="Calibri"/>
                <a:ea typeface="Calibri"/>
                <a:cs typeface="Calibri"/>
                <a:sym typeface="Calibri"/>
              </a:rPr>
              <a:t> (E-mail/push)</a:t>
            </a:r>
            <a:endParaRPr b="1">
              <a:latin typeface="Calibri"/>
              <a:ea typeface="Calibri"/>
              <a:cs typeface="Calibri"/>
              <a:sym typeface="Calibri"/>
            </a:endParaRPr>
          </a:p>
        </p:txBody>
      </p:sp>
      <p:sp>
        <p:nvSpPr>
          <p:cNvPr id="174" name="Google Shape;174;p20"/>
          <p:cNvSpPr/>
          <p:nvPr/>
        </p:nvSpPr>
        <p:spPr>
          <a:xfrm>
            <a:off x="4694099" y="3496854"/>
            <a:ext cx="2208300" cy="10251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800">
                <a:latin typeface="Calibri"/>
                <a:ea typeface="Calibri"/>
                <a:cs typeface="Calibri"/>
                <a:sym typeface="Calibri"/>
              </a:rPr>
              <a:t>Plataforma</a:t>
            </a:r>
            <a:endParaRPr b="1" sz="1800">
              <a:latin typeface="Calibri"/>
              <a:ea typeface="Calibri"/>
              <a:cs typeface="Calibri"/>
              <a:sym typeface="Calibri"/>
            </a:endParaRPr>
          </a:p>
          <a:p>
            <a:pPr indent="0" lvl="0" marL="0" rtl="0" algn="ctr">
              <a:spcBef>
                <a:spcPts val="0"/>
              </a:spcBef>
              <a:spcAft>
                <a:spcPts val="0"/>
              </a:spcAft>
              <a:buNone/>
            </a:pPr>
            <a:r>
              <a:rPr b="1" lang="en-US" sz="1800">
                <a:latin typeface="Calibri"/>
                <a:ea typeface="Calibri"/>
                <a:cs typeface="Calibri"/>
                <a:sym typeface="Calibri"/>
              </a:rPr>
              <a:t>RelatoSeg</a:t>
            </a:r>
            <a:endParaRPr b="1" sz="1800">
              <a:latin typeface="Calibri"/>
              <a:ea typeface="Calibri"/>
              <a:cs typeface="Calibri"/>
              <a:sym typeface="Calibri"/>
            </a:endParaRPr>
          </a:p>
        </p:txBody>
      </p:sp>
      <p:sp>
        <p:nvSpPr>
          <p:cNvPr id="175" name="Google Shape;175;p20"/>
          <p:cNvSpPr/>
          <p:nvPr/>
        </p:nvSpPr>
        <p:spPr>
          <a:xfrm>
            <a:off x="4885638" y="5338725"/>
            <a:ext cx="1811400" cy="8652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Data Warehouse &amp; Sistemas Legados</a:t>
            </a:r>
            <a:endParaRPr b="1">
              <a:latin typeface="Calibri"/>
              <a:ea typeface="Calibri"/>
              <a:cs typeface="Calibri"/>
              <a:sym typeface="Calibri"/>
            </a:endParaRPr>
          </a:p>
        </p:txBody>
      </p:sp>
      <p:sp>
        <p:nvSpPr>
          <p:cNvPr id="176" name="Google Shape;176;p20"/>
          <p:cNvSpPr/>
          <p:nvPr/>
        </p:nvSpPr>
        <p:spPr>
          <a:xfrm>
            <a:off x="4820399" y="1836224"/>
            <a:ext cx="1811400" cy="6840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Workflow</a:t>
            </a:r>
            <a:endParaRPr b="1">
              <a:latin typeface="Calibri"/>
              <a:ea typeface="Calibri"/>
              <a:cs typeface="Calibri"/>
              <a:sym typeface="Calibri"/>
            </a:endParaRPr>
          </a:p>
          <a:p>
            <a:pPr indent="0" lvl="0" marL="0" rtl="0" algn="ctr">
              <a:spcBef>
                <a:spcPts val="0"/>
              </a:spcBef>
              <a:spcAft>
                <a:spcPts val="0"/>
              </a:spcAft>
              <a:buNone/>
            </a:pPr>
            <a:r>
              <a:rPr b="1" lang="en-US">
                <a:latin typeface="Calibri"/>
                <a:ea typeface="Calibri"/>
                <a:cs typeface="Calibri"/>
                <a:sym typeface="Calibri"/>
              </a:rPr>
              <a:t>Seguradora</a:t>
            </a:r>
            <a:endParaRPr b="1">
              <a:latin typeface="Calibri"/>
              <a:ea typeface="Calibri"/>
              <a:cs typeface="Calibri"/>
              <a:sym typeface="Calibri"/>
            </a:endParaRPr>
          </a:p>
        </p:txBody>
      </p:sp>
      <p:sp>
        <p:nvSpPr>
          <p:cNvPr id="177" name="Google Shape;177;p20"/>
          <p:cNvSpPr/>
          <p:nvPr/>
        </p:nvSpPr>
        <p:spPr>
          <a:xfrm>
            <a:off x="1218650" y="3660804"/>
            <a:ext cx="1560600" cy="6060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Corretor</a:t>
            </a:r>
            <a:endParaRPr b="1">
              <a:latin typeface="Calibri"/>
              <a:ea typeface="Calibri"/>
              <a:cs typeface="Calibri"/>
              <a:sym typeface="Calibri"/>
            </a:endParaRPr>
          </a:p>
          <a:p>
            <a:pPr indent="0" lvl="0" marL="0" rtl="0" algn="ctr">
              <a:spcBef>
                <a:spcPts val="0"/>
              </a:spcBef>
              <a:spcAft>
                <a:spcPts val="0"/>
              </a:spcAft>
              <a:buNone/>
            </a:pPr>
            <a:r>
              <a:rPr b="1" lang="en-US">
                <a:latin typeface="Calibri"/>
                <a:ea typeface="Calibri"/>
                <a:cs typeface="Calibri"/>
                <a:sym typeface="Calibri"/>
              </a:rPr>
              <a:t>(Web)</a:t>
            </a:r>
            <a:endParaRPr b="1">
              <a:latin typeface="Calibri"/>
              <a:ea typeface="Calibri"/>
              <a:cs typeface="Calibri"/>
              <a:sym typeface="Calibri"/>
            </a:endParaRPr>
          </a:p>
        </p:txBody>
      </p:sp>
      <p:sp>
        <p:nvSpPr>
          <p:cNvPr id="178" name="Google Shape;178;p20"/>
          <p:cNvSpPr/>
          <p:nvPr/>
        </p:nvSpPr>
        <p:spPr>
          <a:xfrm>
            <a:off x="1218650" y="4358679"/>
            <a:ext cx="1560600" cy="7995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Administrador da plataforma</a:t>
            </a:r>
            <a:endParaRPr b="1">
              <a:latin typeface="Calibri"/>
              <a:ea typeface="Calibri"/>
              <a:cs typeface="Calibri"/>
              <a:sym typeface="Calibri"/>
            </a:endParaRPr>
          </a:p>
          <a:p>
            <a:pPr indent="0" lvl="0" marL="0" rtl="0" algn="ctr">
              <a:spcBef>
                <a:spcPts val="0"/>
              </a:spcBef>
              <a:spcAft>
                <a:spcPts val="0"/>
              </a:spcAft>
              <a:buNone/>
            </a:pPr>
            <a:r>
              <a:rPr b="1" lang="en-US">
                <a:latin typeface="Calibri"/>
                <a:ea typeface="Calibri"/>
                <a:cs typeface="Calibri"/>
                <a:sym typeface="Calibri"/>
              </a:rPr>
              <a:t>(Web)</a:t>
            </a:r>
            <a:endParaRPr b="1">
              <a:latin typeface="Calibri"/>
              <a:ea typeface="Calibri"/>
              <a:cs typeface="Calibri"/>
              <a:sym typeface="Calibri"/>
            </a:endParaRPr>
          </a:p>
        </p:txBody>
      </p:sp>
      <p:sp>
        <p:nvSpPr>
          <p:cNvPr id="179" name="Google Shape;179;p20"/>
          <p:cNvSpPr/>
          <p:nvPr/>
        </p:nvSpPr>
        <p:spPr>
          <a:xfrm>
            <a:off x="2990975" y="3733150"/>
            <a:ext cx="1560600" cy="582600"/>
          </a:xfrm>
          <a:prstGeom prst="rightArrow">
            <a:avLst>
              <a:gd fmla="val 50000" name="adj1"/>
              <a:gd fmla="val 5000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p20"/>
          <p:cNvSpPr/>
          <p:nvPr/>
        </p:nvSpPr>
        <p:spPr>
          <a:xfrm rot="680028">
            <a:off x="3027683" y="2988609"/>
            <a:ext cx="1412036" cy="582583"/>
          </a:xfrm>
          <a:prstGeom prst="rightArrow">
            <a:avLst>
              <a:gd fmla="val 50000" name="adj1"/>
              <a:gd fmla="val 5000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1" name="Google Shape;181;p20"/>
          <p:cNvSpPr/>
          <p:nvPr/>
        </p:nvSpPr>
        <p:spPr>
          <a:xfrm rot="-1135806">
            <a:off x="3055615" y="4430957"/>
            <a:ext cx="1361222" cy="582608"/>
          </a:xfrm>
          <a:prstGeom prst="rightArrow">
            <a:avLst>
              <a:gd fmla="val 50000" name="adj1"/>
              <a:gd fmla="val 5000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2" name="Google Shape;182;p20"/>
          <p:cNvSpPr/>
          <p:nvPr/>
        </p:nvSpPr>
        <p:spPr>
          <a:xfrm rot="5398826">
            <a:off x="5247899" y="2727350"/>
            <a:ext cx="878100" cy="582600"/>
          </a:xfrm>
          <a:prstGeom prst="leftRightArrow">
            <a:avLst>
              <a:gd fmla="val 50000" name="adj1"/>
              <a:gd fmla="val 5000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3" name="Google Shape;183;p20"/>
          <p:cNvSpPr/>
          <p:nvPr/>
        </p:nvSpPr>
        <p:spPr>
          <a:xfrm rot="-5400000">
            <a:off x="5389659" y="4645558"/>
            <a:ext cx="686700" cy="582600"/>
          </a:xfrm>
          <a:prstGeom prst="rightArrow">
            <a:avLst>
              <a:gd fmla="val 50000" name="adj1"/>
              <a:gd fmla="val 5000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4" name="Google Shape;184;p20"/>
          <p:cNvSpPr/>
          <p:nvPr/>
        </p:nvSpPr>
        <p:spPr>
          <a:xfrm>
            <a:off x="7163845" y="3733150"/>
            <a:ext cx="1908300" cy="582600"/>
          </a:xfrm>
          <a:prstGeom prst="rightArrow">
            <a:avLst>
              <a:gd fmla="val 50000" name="adj1"/>
              <a:gd fmla="val 5000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5" name="Google Shape;185;p20"/>
          <p:cNvSpPr/>
          <p:nvPr/>
        </p:nvSpPr>
        <p:spPr>
          <a:xfrm>
            <a:off x="1775525" y="1895600"/>
            <a:ext cx="2321400" cy="684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1200">
                <a:latin typeface="Calibri"/>
                <a:ea typeface="Calibri"/>
                <a:cs typeface="Calibri"/>
                <a:sym typeface="Calibri"/>
              </a:rPr>
              <a:t>Entrada Self-Service: </a:t>
            </a:r>
            <a:r>
              <a:rPr lang="en-US" sz="1200">
                <a:latin typeface="Calibri"/>
                <a:ea typeface="Calibri"/>
                <a:cs typeface="Calibri"/>
                <a:sym typeface="Calibri"/>
              </a:rPr>
              <a:t>Segurada envia fotos via App Mobile/Web (fronteira extena).</a:t>
            </a:r>
            <a:endParaRPr sz="1200">
              <a:latin typeface="Calibri"/>
              <a:ea typeface="Calibri"/>
              <a:cs typeface="Calibri"/>
              <a:sym typeface="Calibri"/>
            </a:endParaRPr>
          </a:p>
        </p:txBody>
      </p:sp>
      <p:cxnSp>
        <p:nvCxnSpPr>
          <p:cNvPr id="186" name="Google Shape;186;p20"/>
          <p:cNvCxnSpPr>
            <a:stCxn id="185" idx="2"/>
          </p:cNvCxnSpPr>
          <p:nvPr/>
        </p:nvCxnSpPr>
        <p:spPr>
          <a:xfrm>
            <a:off x="2936225" y="2579600"/>
            <a:ext cx="795600" cy="525900"/>
          </a:xfrm>
          <a:prstGeom prst="straightConnector1">
            <a:avLst/>
          </a:prstGeom>
          <a:noFill/>
          <a:ln cap="flat" cmpd="sng" w="19050">
            <a:solidFill>
              <a:schemeClr val="dk2"/>
            </a:solidFill>
            <a:prstDash val="solid"/>
            <a:round/>
            <a:headEnd len="med" w="med" type="none"/>
            <a:tailEnd len="med" w="med" type="triangle"/>
          </a:ln>
        </p:spPr>
      </p:cxnSp>
      <p:sp>
        <p:nvSpPr>
          <p:cNvPr id="187" name="Google Shape;187;p20"/>
          <p:cNvSpPr/>
          <p:nvPr/>
        </p:nvSpPr>
        <p:spPr>
          <a:xfrm>
            <a:off x="7009500" y="2520225"/>
            <a:ext cx="2321400" cy="865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1200">
                <a:latin typeface="Calibri"/>
                <a:ea typeface="Calibri"/>
                <a:cs typeface="Calibri"/>
                <a:sym typeface="Calibri"/>
              </a:rPr>
              <a:t>Acionamento Automático</a:t>
            </a:r>
            <a:r>
              <a:rPr b="1" lang="en-US" sz="1200">
                <a:latin typeface="Calibri"/>
                <a:ea typeface="Calibri"/>
                <a:cs typeface="Calibri"/>
                <a:sym typeface="Calibri"/>
              </a:rPr>
              <a:t>: </a:t>
            </a:r>
            <a:r>
              <a:rPr lang="en-US" sz="1200">
                <a:latin typeface="Calibri"/>
                <a:ea typeface="Calibri"/>
                <a:cs typeface="Calibri"/>
                <a:sym typeface="Calibri"/>
              </a:rPr>
              <a:t>Integração B2B realizada por meio do workflow.</a:t>
            </a:r>
            <a:endParaRPr sz="1200">
              <a:latin typeface="Calibri"/>
              <a:ea typeface="Calibri"/>
              <a:cs typeface="Calibri"/>
              <a:sym typeface="Calibri"/>
            </a:endParaRPr>
          </a:p>
        </p:txBody>
      </p:sp>
      <p:cxnSp>
        <p:nvCxnSpPr>
          <p:cNvPr id="188" name="Google Shape;188;p20"/>
          <p:cNvCxnSpPr>
            <a:stCxn id="187" idx="1"/>
            <a:endCxn id="176" idx="3"/>
          </p:cNvCxnSpPr>
          <p:nvPr/>
        </p:nvCxnSpPr>
        <p:spPr>
          <a:xfrm rot="10800000">
            <a:off x="6631800" y="2178225"/>
            <a:ext cx="377700" cy="774600"/>
          </a:xfrm>
          <a:prstGeom prst="straightConnector1">
            <a:avLst/>
          </a:prstGeom>
          <a:noFill/>
          <a:ln cap="flat" cmpd="sng" w="19050">
            <a:solidFill>
              <a:schemeClr val="dk2"/>
            </a:solidFill>
            <a:prstDash val="solid"/>
            <a:round/>
            <a:headEnd len="med" w="med" type="none"/>
            <a:tailEnd len="med" w="med" type="triangle"/>
          </a:ln>
        </p:spPr>
      </p:cxnSp>
      <p:sp>
        <p:nvSpPr>
          <p:cNvPr id="189" name="Google Shape;189;p20"/>
          <p:cNvSpPr/>
          <p:nvPr/>
        </p:nvSpPr>
        <p:spPr>
          <a:xfrm>
            <a:off x="7331525" y="4903825"/>
            <a:ext cx="2321400" cy="865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1200">
                <a:latin typeface="Calibri"/>
                <a:ea typeface="Calibri"/>
                <a:cs typeface="Calibri"/>
                <a:sym typeface="Calibri"/>
              </a:rPr>
              <a:t>O Núcleo</a:t>
            </a:r>
            <a:r>
              <a:rPr b="1" lang="en-US" sz="1200">
                <a:latin typeface="Calibri"/>
                <a:ea typeface="Calibri"/>
                <a:cs typeface="Calibri"/>
                <a:sym typeface="Calibri"/>
              </a:rPr>
              <a:t>: </a:t>
            </a:r>
            <a:r>
              <a:rPr lang="en-US" sz="1200">
                <a:latin typeface="Calibri"/>
                <a:ea typeface="Calibri"/>
                <a:cs typeface="Calibri"/>
                <a:sym typeface="Calibri"/>
              </a:rPr>
              <a:t>Plataforma orquestra agentes, consome o Data Warehouse e gera o parecer.</a:t>
            </a:r>
            <a:endParaRPr sz="1200">
              <a:latin typeface="Calibri"/>
              <a:ea typeface="Calibri"/>
              <a:cs typeface="Calibri"/>
              <a:sym typeface="Calibri"/>
            </a:endParaRPr>
          </a:p>
        </p:txBody>
      </p:sp>
      <p:cxnSp>
        <p:nvCxnSpPr>
          <p:cNvPr id="190" name="Google Shape;190;p20"/>
          <p:cNvCxnSpPr>
            <a:stCxn id="189" idx="1"/>
            <a:endCxn id="174" idx="3"/>
          </p:cNvCxnSpPr>
          <p:nvPr/>
        </p:nvCxnSpPr>
        <p:spPr>
          <a:xfrm rot="10800000">
            <a:off x="6902525" y="4009525"/>
            <a:ext cx="429000" cy="1326900"/>
          </a:xfrm>
          <a:prstGeom prst="straightConnector1">
            <a:avLst/>
          </a:prstGeom>
          <a:noFill/>
          <a:ln cap="flat" cmpd="sng" w="19050">
            <a:solidFill>
              <a:schemeClr val="dk2"/>
            </a:solidFill>
            <a:prstDash val="solid"/>
            <a:round/>
            <a:headEnd len="med" w="med" type="none"/>
            <a:tailEnd len="med" w="med" type="triangle"/>
          </a:ln>
        </p:spPr>
      </p:cxnSp>
      <p:sp>
        <p:nvSpPr>
          <p:cNvPr id="191" name="Google Shape;191;p20"/>
          <p:cNvSpPr/>
          <p:nvPr/>
        </p:nvSpPr>
        <p:spPr>
          <a:xfrm>
            <a:off x="9625775" y="2065625"/>
            <a:ext cx="1811400" cy="7389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1200">
                <a:latin typeface="Calibri"/>
                <a:ea typeface="Calibri"/>
                <a:cs typeface="Calibri"/>
                <a:sym typeface="Calibri"/>
              </a:rPr>
              <a:t>Saída Ativa</a:t>
            </a:r>
            <a:r>
              <a:rPr b="1" lang="en-US" sz="1200">
                <a:latin typeface="Calibri"/>
                <a:ea typeface="Calibri"/>
                <a:cs typeface="Calibri"/>
                <a:sym typeface="Calibri"/>
              </a:rPr>
              <a:t>: </a:t>
            </a:r>
            <a:r>
              <a:rPr lang="en-US" sz="1200">
                <a:latin typeface="Calibri"/>
                <a:ea typeface="Calibri"/>
                <a:cs typeface="Calibri"/>
                <a:sym typeface="Calibri"/>
              </a:rPr>
              <a:t>Notificacoes assicronas para os interessados.</a:t>
            </a:r>
            <a:endParaRPr sz="1200">
              <a:latin typeface="Calibri"/>
              <a:ea typeface="Calibri"/>
              <a:cs typeface="Calibri"/>
              <a:sym typeface="Calibri"/>
            </a:endParaRPr>
          </a:p>
        </p:txBody>
      </p:sp>
      <p:cxnSp>
        <p:nvCxnSpPr>
          <p:cNvPr id="192" name="Google Shape;192;p20"/>
          <p:cNvCxnSpPr>
            <a:stCxn id="173" idx="0"/>
            <a:endCxn id="191" idx="2"/>
          </p:cNvCxnSpPr>
          <p:nvPr/>
        </p:nvCxnSpPr>
        <p:spPr>
          <a:xfrm flipH="1" rot="10800000">
            <a:off x="10021487" y="2804507"/>
            <a:ext cx="510000" cy="820200"/>
          </a:xfrm>
          <a:prstGeom prst="straightConnector1">
            <a:avLst/>
          </a:prstGeom>
          <a:noFill/>
          <a:ln cap="flat" cmpd="sng" w="19050">
            <a:solidFill>
              <a:schemeClr val="dk2"/>
            </a:solidFill>
            <a:prstDash val="solid"/>
            <a:round/>
            <a:headEnd len="med" w="med" type="none"/>
            <a:tailEnd len="med" w="med" type="triangle"/>
          </a:ln>
        </p:spPr>
      </p:cxnSp>
      <p:pic>
        <p:nvPicPr>
          <p:cNvPr id="193" name="Google Shape;193;p20" title="phone.png"/>
          <p:cNvPicPr preferRelativeResize="0"/>
          <p:nvPr/>
        </p:nvPicPr>
        <p:blipFill>
          <a:blip r:embed="rId4">
            <a:alphaModFix/>
          </a:blip>
          <a:stretch>
            <a:fillRect/>
          </a:stretch>
        </p:blipFill>
        <p:spPr>
          <a:xfrm>
            <a:off x="861150" y="1761187"/>
            <a:ext cx="914400" cy="914400"/>
          </a:xfrm>
          <a:prstGeom prst="rect">
            <a:avLst/>
          </a:prstGeom>
          <a:noFill/>
          <a:ln>
            <a:noFill/>
          </a:ln>
        </p:spPr>
      </p:pic>
      <p:pic>
        <p:nvPicPr>
          <p:cNvPr id="194" name="Google Shape;194;p20" title="cloud1.png"/>
          <p:cNvPicPr preferRelativeResize="0"/>
          <p:nvPr/>
        </p:nvPicPr>
        <p:blipFill>
          <a:blip r:embed="rId5">
            <a:alphaModFix/>
          </a:blip>
          <a:stretch>
            <a:fillRect/>
          </a:stretch>
        </p:blipFill>
        <p:spPr>
          <a:xfrm>
            <a:off x="3493948" y="5344644"/>
            <a:ext cx="1200150" cy="914400"/>
          </a:xfrm>
          <a:prstGeom prst="rect">
            <a:avLst/>
          </a:prstGeom>
          <a:noFill/>
          <a:ln>
            <a:noFill/>
          </a:ln>
        </p:spPr>
      </p:pic>
      <p:pic>
        <p:nvPicPr>
          <p:cNvPr id="195" name="Google Shape;195;p20" title="database.png"/>
          <p:cNvPicPr preferRelativeResize="0"/>
          <p:nvPr/>
        </p:nvPicPr>
        <p:blipFill>
          <a:blip r:embed="rId6">
            <a:alphaModFix/>
          </a:blip>
          <a:stretch>
            <a:fillRect/>
          </a:stretch>
        </p:blipFill>
        <p:spPr>
          <a:xfrm>
            <a:off x="3879524" y="5638055"/>
            <a:ext cx="429000" cy="429000"/>
          </a:xfrm>
          <a:prstGeom prst="rect">
            <a:avLst/>
          </a:prstGeom>
          <a:noFill/>
          <a:ln>
            <a:noFill/>
          </a:ln>
        </p:spPr>
      </p:pic>
      <p:pic>
        <p:nvPicPr>
          <p:cNvPr id="196" name="Google Shape;196;p20" title="browser.png"/>
          <p:cNvPicPr preferRelativeResize="0"/>
          <p:nvPr/>
        </p:nvPicPr>
        <p:blipFill>
          <a:blip r:embed="rId7">
            <a:alphaModFix/>
          </a:blip>
          <a:stretch>
            <a:fillRect/>
          </a:stretch>
        </p:blipFill>
        <p:spPr>
          <a:xfrm>
            <a:off x="993225" y="5422981"/>
            <a:ext cx="914400" cy="696682"/>
          </a:xfrm>
          <a:prstGeom prst="rect">
            <a:avLst/>
          </a:prstGeom>
          <a:noFill/>
          <a:ln>
            <a:noFill/>
          </a:ln>
        </p:spPr>
      </p:pic>
      <p:pic>
        <p:nvPicPr>
          <p:cNvPr id="197" name="Google Shape;197;p20" title="notifications_on.png"/>
          <p:cNvPicPr preferRelativeResize="0"/>
          <p:nvPr/>
        </p:nvPicPr>
        <p:blipFill>
          <a:blip r:embed="rId8">
            <a:alphaModFix/>
          </a:blip>
          <a:stretch>
            <a:fillRect/>
          </a:stretch>
        </p:blipFill>
        <p:spPr>
          <a:xfrm>
            <a:off x="11008675" y="2426826"/>
            <a:ext cx="377700" cy="377700"/>
          </a:xfrm>
          <a:prstGeom prst="rect">
            <a:avLst/>
          </a:prstGeom>
          <a:noFill/>
          <a:ln>
            <a:noFill/>
          </a:ln>
        </p:spPr>
      </p:pic>
      <p:pic>
        <p:nvPicPr>
          <p:cNvPr id="198" name="Google Shape;198;p20" title="mark_email_read.png"/>
          <p:cNvPicPr preferRelativeResize="0"/>
          <p:nvPr/>
        </p:nvPicPr>
        <p:blipFill>
          <a:blip r:embed="rId9">
            <a:alphaModFix/>
          </a:blip>
          <a:stretch>
            <a:fillRect/>
          </a:stretch>
        </p:blipFill>
        <p:spPr>
          <a:xfrm>
            <a:off x="9985175" y="4467125"/>
            <a:ext cx="582600" cy="582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3" name="Shape 203"/>
        <p:cNvGrpSpPr/>
        <p:nvPr/>
      </p:nvGrpSpPr>
      <p:grpSpPr>
        <a:xfrm>
          <a:off x="0" y="0"/>
          <a:ext cx="0" cy="0"/>
          <a:chOff x="0" y="0"/>
          <a:chExt cx="0" cy="0"/>
        </a:xfrm>
      </p:grpSpPr>
      <p:sp>
        <p:nvSpPr>
          <p:cNvPr id="204" name="Google Shape;204;p21"/>
          <p:cNvSpPr/>
          <p:nvPr/>
        </p:nvSpPr>
        <p:spPr>
          <a:xfrm>
            <a:off x="539070" y="1739427"/>
            <a:ext cx="11094300" cy="4887300"/>
          </a:xfrm>
          <a:prstGeom prst="roundRect">
            <a:avLst>
              <a:gd fmla="val 5860" name="adj"/>
            </a:avLst>
          </a:prstGeom>
          <a:solidFill>
            <a:srgbClr val="FFFFFF">
              <a:alpha val="90000"/>
            </a:srgbClr>
          </a:solidFill>
          <a:ln>
            <a:noFill/>
          </a:ln>
          <a:effectLst>
            <a:outerShdw blurRad="150000" dir="5400000" dist="30000">
              <a:srgbClr val="000000">
                <a:alpha val="14900"/>
              </a:srgbClr>
            </a:outerShdw>
          </a:effectLst>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05" name="Google Shape;205;p21"/>
          <p:cNvSpPr/>
          <p:nvPr/>
        </p:nvSpPr>
        <p:spPr>
          <a:xfrm>
            <a:off x="548640" y="209550"/>
            <a:ext cx="11094300" cy="1162200"/>
          </a:xfrm>
          <a:prstGeom prst="roundRect">
            <a:avLst>
              <a:gd fmla="val 9836" name="adj"/>
            </a:avLst>
          </a:prstGeom>
          <a:solidFill>
            <a:srgbClr val="FCFCFC"/>
          </a:solidFill>
          <a:ln cap="flat" cmpd="sng" w="14300">
            <a:solidFill>
              <a:srgbClr val="F9F9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 name="Google Shape;206;p21"/>
          <p:cNvSpPr txBox="1"/>
          <p:nvPr/>
        </p:nvSpPr>
        <p:spPr>
          <a:xfrm>
            <a:off x="548640" y="267848"/>
            <a:ext cx="11094300" cy="184800"/>
          </a:xfrm>
          <a:prstGeom prst="rect">
            <a:avLst/>
          </a:prstGeom>
          <a:solidFill>
            <a:srgbClr val="000000">
              <a:alpha val="0"/>
            </a:srgbClr>
          </a:solidFill>
          <a:ln>
            <a:noFill/>
          </a:ln>
        </p:spPr>
        <p:txBody>
          <a:bodyPr anchorCtr="0" anchor="t" bIns="0" lIns="142875" spcFirstLastPara="1" rIns="0" wrap="square" tIns="0">
            <a:spAutoFit/>
          </a:bodyPr>
          <a:lstStyle/>
          <a:p>
            <a:pPr indent="0" lvl="0" marL="0" rtl="0" algn="l">
              <a:spcBef>
                <a:spcPts val="0"/>
              </a:spcBef>
              <a:spcAft>
                <a:spcPts val="0"/>
              </a:spcAft>
              <a:buNone/>
            </a:pPr>
            <a:r>
              <a:rPr b="1" lang="en-US" sz="1200">
                <a:solidFill>
                  <a:srgbClr val="D97706"/>
                </a:solidFill>
              </a:rPr>
              <a:t>DIAGRAMA DE CONTENTORES</a:t>
            </a:r>
            <a:endParaRPr b="1" sz="1200">
              <a:solidFill>
                <a:srgbClr val="D97706"/>
              </a:solidFill>
              <a:latin typeface="Arial"/>
              <a:ea typeface="Arial"/>
              <a:cs typeface="Arial"/>
              <a:sym typeface="Arial"/>
            </a:endParaRPr>
          </a:p>
        </p:txBody>
      </p:sp>
      <p:sp>
        <p:nvSpPr>
          <p:cNvPr id="207" name="Google Shape;207;p21"/>
          <p:cNvSpPr txBox="1"/>
          <p:nvPr/>
        </p:nvSpPr>
        <p:spPr>
          <a:xfrm>
            <a:off x="548640" y="476250"/>
            <a:ext cx="11094300" cy="738900"/>
          </a:xfrm>
          <a:prstGeom prst="rect">
            <a:avLst/>
          </a:prstGeom>
          <a:solidFill>
            <a:srgbClr val="000000">
              <a:alpha val="0"/>
            </a:srgbClr>
          </a:solidFill>
          <a:ln>
            <a:noFill/>
          </a:ln>
        </p:spPr>
        <p:txBody>
          <a:bodyPr anchorCtr="0" anchor="ctr" bIns="0" lIns="142875" spcFirstLastPara="1" rIns="142875" wrap="square" tIns="0">
            <a:spAutoFit/>
          </a:bodyPr>
          <a:lstStyle/>
          <a:p>
            <a:pPr indent="0" lvl="0" marL="0" rtl="0" algn="l">
              <a:spcBef>
                <a:spcPts val="0"/>
              </a:spcBef>
              <a:spcAft>
                <a:spcPts val="0"/>
              </a:spcAft>
              <a:buNone/>
            </a:pPr>
            <a:r>
              <a:rPr b="1" lang="en-US" sz="2400">
                <a:solidFill>
                  <a:srgbClr val="1E293B"/>
                </a:solidFill>
                <a:latin typeface="Georgia"/>
                <a:ea typeface="Georgia"/>
                <a:cs typeface="Georgia"/>
                <a:sym typeface="Georgia"/>
              </a:rPr>
              <a:t>O Pipeline de </a:t>
            </a:r>
            <a:endParaRPr b="1" sz="2400">
              <a:solidFill>
                <a:srgbClr val="1E293B"/>
              </a:solidFill>
              <a:latin typeface="Georgia"/>
              <a:ea typeface="Georgia"/>
              <a:cs typeface="Georgia"/>
              <a:sym typeface="Georgia"/>
            </a:endParaRPr>
          </a:p>
          <a:p>
            <a:pPr indent="0" lvl="0" marL="0" rtl="0" algn="l">
              <a:spcBef>
                <a:spcPts val="0"/>
              </a:spcBef>
              <a:spcAft>
                <a:spcPts val="0"/>
              </a:spcAft>
              <a:buNone/>
            </a:pPr>
            <a:r>
              <a:rPr b="1" lang="en-US" sz="2400">
                <a:solidFill>
                  <a:srgbClr val="1E293B"/>
                </a:solidFill>
                <a:latin typeface="Georgia"/>
                <a:ea typeface="Georgia"/>
                <a:cs typeface="Georgia"/>
                <a:sym typeface="Georgia"/>
              </a:rPr>
              <a:t>Execuções</a:t>
            </a:r>
            <a:endParaRPr b="1" sz="2400">
              <a:solidFill>
                <a:srgbClr val="1E293B"/>
              </a:solidFill>
              <a:latin typeface="Georgia"/>
              <a:ea typeface="Georgia"/>
              <a:cs typeface="Georgia"/>
              <a:sym typeface="Georgia"/>
            </a:endParaRPr>
          </a:p>
        </p:txBody>
      </p:sp>
      <p:sp>
        <p:nvSpPr>
          <p:cNvPr id="208" name="Google Shape;208;p21"/>
          <p:cNvSpPr/>
          <p:nvPr/>
        </p:nvSpPr>
        <p:spPr>
          <a:xfrm>
            <a:off x="691515" y="1257300"/>
            <a:ext cx="10808700" cy="19200"/>
          </a:xfrm>
          <a:prstGeom prst="rect">
            <a:avLst/>
          </a:prstGeom>
          <a:solidFill>
            <a:srgbClr val="D97706"/>
          </a:solidFill>
          <a:ln>
            <a:noFill/>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21"/>
          <p:cNvSpPr/>
          <p:nvPr/>
        </p:nvSpPr>
        <p:spPr>
          <a:xfrm>
            <a:off x="1104525" y="2412283"/>
            <a:ext cx="2832900" cy="3650700"/>
          </a:xfrm>
          <a:prstGeom prst="roundRect">
            <a:avLst>
              <a:gd fmla="val 933" name="adj"/>
            </a:avLst>
          </a:prstGeom>
          <a:solidFill>
            <a:srgbClr val="D9D9D9"/>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10" name="Google Shape;210;p21"/>
          <p:cNvSpPr/>
          <p:nvPr/>
        </p:nvSpPr>
        <p:spPr>
          <a:xfrm>
            <a:off x="965600" y="2287685"/>
            <a:ext cx="2862000" cy="3650700"/>
          </a:xfrm>
          <a:prstGeom prst="roundRect">
            <a:avLst>
              <a:gd fmla="val 1994" name="adj"/>
            </a:avLst>
          </a:prstGeom>
          <a:solidFill>
            <a:srgbClr val="FCFCF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211" name="Google Shape;211;p21"/>
          <p:cNvSpPr/>
          <p:nvPr/>
        </p:nvSpPr>
        <p:spPr>
          <a:xfrm>
            <a:off x="4596475" y="2412283"/>
            <a:ext cx="3232200" cy="3650700"/>
          </a:xfrm>
          <a:prstGeom prst="roundRect">
            <a:avLst>
              <a:gd fmla="val 718" name="adj"/>
            </a:avLst>
          </a:prstGeom>
          <a:solidFill>
            <a:srgbClr val="D9D9D9"/>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12" name="Google Shape;212;p21"/>
          <p:cNvSpPr/>
          <p:nvPr/>
        </p:nvSpPr>
        <p:spPr>
          <a:xfrm>
            <a:off x="4471548" y="2317033"/>
            <a:ext cx="3232200" cy="3650700"/>
          </a:xfrm>
          <a:prstGeom prst="roundRect">
            <a:avLst>
              <a:gd fmla="val 1201" name="adj"/>
            </a:avLst>
          </a:prstGeom>
          <a:solidFill>
            <a:srgbClr val="FCFCF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213" name="Google Shape;213;p21"/>
          <p:cNvSpPr/>
          <p:nvPr/>
        </p:nvSpPr>
        <p:spPr>
          <a:xfrm>
            <a:off x="8426250" y="2429233"/>
            <a:ext cx="2832900" cy="3650700"/>
          </a:xfrm>
          <a:prstGeom prst="roundRect">
            <a:avLst>
              <a:gd fmla="val 1639" name="adj"/>
            </a:avLst>
          </a:prstGeom>
          <a:solidFill>
            <a:srgbClr val="D9D9D9"/>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14" name="Google Shape;214;p21"/>
          <p:cNvSpPr/>
          <p:nvPr/>
        </p:nvSpPr>
        <p:spPr>
          <a:xfrm>
            <a:off x="8329375" y="2320958"/>
            <a:ext cx="2832900" cy="3650700"/>
          </a:xfrm>
          <a:prstGeom prst="roundRect">
            <a:avLst>
              <a:gd fmla="val 703" name="adj"/>
            </a:avLst>
          </a:prstGeom>
          <a:solidFill>
            <a:srgbClr val="FCFCF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215" name="Google Shape;215;p21"/>
          <p:cNvSpPr/>
          <p:nvPr/>
        </p:nvSpPr>
        <p:spPr>
          <a:xfrm>
            <a:off x="3827600" y="3851083"/>
            <a:ext cx="615300" cy="582600"/>
          </a:xfrm>
          <a:prstGeom prst="rightArrow">
            <a:avLst>
              <a:gd fmla="val 50000" name="adj1"/>
              <a:gd fmla="val 5000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6" name="Google Shape;216;p21"/>
          <p:cNvSpPr/>
          <p:nvPr/>
        </p:nvSpPr>
        <p:spPr>
          <a:xfrm>
            <a:off x="7729839" y="3855008"/>
            <a:ext cx="615300" cy="582600"/>
          </a:xfrm>
          <a:prstGeom prst="rightArrow">
            <a:avLst>
              <a:gd fmla="val 50000" name="adj1"/>
              <a:gd fmla="val 5000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7" name="Google Shape;217;p21"/>
          <p:cNvSpPr/>
          <p:nvPr/>
        </p:nvSpPr>
        <p:spPr>
          <a:xfrm>
            <a:off x="1104450" y="3651908"/>
            <a:ext cx="2535900" cy="768600"/>
          </a:xfrm>
          <a:prstGeom prst="rect">
            <a:avLst/>
          </a:prstGeom>
          <a:solidFill>
            <a:srgbClr val="F3F3F3"/>
          </a:solidFill>
          <a:ln cap="flat" cmpd="sng" w="9525">
            <a:solidFill>
              <a:srgbClr val="434343"/>
            </a:solidFill>
            <a:prstDash val="solid"/>
            <a:round/>
            <a:headEnd len="sm" w="sm" type="none"/>
            <a:tailEnd len="sm" w="sm" type="none"/>
          </a:ln>
          <a:effectLst>
            <a:outerShdw blurRad="150000" dir="5400000" dist="30000">
              <a:srgbClr val="000000">
                <a:alpha val="149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666666"/>
                </a:solidFill>
                <a:latin typeface="Calibri"/>
                <a:ea typeface="Calibri"/>
                <a:cs typeface="Calibri"/>
                <a:sym typeface="Calibri"/>
              </a:rPr>
              <a:t>Gateway com Keycloak</a:t>
            </a:r>
            <a:endParaRPr sz="1800">
              <a:solidFill>
                <a:srgbClr val="666666"/>
              </a:solidFill>
              <a:latin typeface="Calibri"/>
              <a:ea typeface="Calibri"/>
              <a:cs typeface="Calibri"/>
              <a:sym typeface="Calibri"/>
            </a:endParaRPr>
          </a:p>
          <a:p>
            <a:pPr indent="0" lvl="0" marL="0" rtl="0" algn="l">
              <a:spcBef>
                <a:spcPts val="0"/>
              </a:spcBef>
              <a:spcAft>
                <a:spcPts val="0"/>
              </a:spcAft>
              <a:buNone/>
            </a:pPr>
            <a:r>
              <a:rPr lang="en-US" sz="1800">
                <a:solidFill>
                  <a:srgbClr val="666666"/>
                </a:solidFill>
                <a:latin typeface="Calibri"/>
                <a:ea typeface="Calibri"/>
                <a:cs typeface="Calibri"/>
                <a:sym typeface="Calibri"/>
              </a:rPr>
              <a:t>(OIDC/RBAC).</a:t>
            </a:r>
            <a:endParaRPr sz="1800">
              <a:solidFill>
                <a:srgbClr val="666666"/>
              </a:solidFill>
              <a:latin typeface="Calibri"/>
              <a:ea typeface="Calibri"/>
              <a:cs typeface="Calibri"/>
              <a:sym typeface="Calibri"/>
            </a:endParaRPr>
          </a:p>
        </p:txBody>
      </p:sp>
      <p:sp>
        <p:nvSpPr>
          <p:cNvPr id="218" name="Google Shape;218;p21"/>
          <p:cNvSpPr/>
          <p:nvPr/>
        </p:nvSpPr>
        <p:spPr>
          <a:xfrm>
            <a:off x="1104450" y="4633808"/>
            <a:ext cx="2535900" cy="1075800"/>
          </a:xfrm>
          <a:prstGeom prst="rect">
            <a:avLst/>
          </a:prstGeom>
          <a:solidFill>
            <a:srgbClr val="F3F3F3"/>
          </a:solidFill>
          <a:ln cap="flat" cmpd="sng" w="9525">
            <a:solidFill>
              <a:srgbClr val="434343"/>
            </a:solidFill>
            <a:prstDash val="solid"/>
            <a:round/>
            <a:headEnd len="sm" w="sm" type="none"/>
            <a:tailEnd len="sm" w="sm" type="none"/>
          </a:ln>
          <a:effectLst>
            <a:outerShdw blurRad="150000" dir="5400000" dist="30000">
              <a:srgbClr val="000000">
                <a:alpha val="149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666666"/>
                </a:solidFill>
                <a:latin typeface="Calibri"/>
                <a:ea typeface="Calibri"/>
                <a:cs typeface="Calibri"/>
                <a:sym typeface="Calibri"/>
              </a:rPr>
              <a:t>Entrada técnica protegida por Identity-Aware Proxy.</a:t>
            </a:r>
            <a:endParaRPr b="1" sz="1800">
              <a:solidFill>
                <a:schemeClr val="lt1"/>
              </a:solidFill>
              <a:latin typeface="Calibri"/>
              <a:ea typeface="Calibri"/>
              <a:cs typeface="Calibri"/>
              <a:sym typeface="Calibri"/>
            </a:endParaRPr>
          </a:p>
          <a:p>
            <a:pPr indent="0" lvl="0" marL="0" rtl="0" algn="ctr">
              <a:spcBef>
                <a:spcPts val="0"/>
              </a:spcBef>
              <a:spcAft>
                <a:spcPts val="0"/>
              </a:spcAft>
              <a:buNone/>
            </a:pPr>
            <a:r>
              <a:t/>
            </a:r>
            <a:endParaRPr b="1" sz="1800">
              <a:solidFill>
                <a:schemeClr val="lt1"/>
              </a:solidFill>
              <a:latin typeface="Calibri"/>
              <a:ea typeface="Calibri"/>
              <a:cs typeface="Calibri"/>
              <a:sym typeface="Calibri"/>
            </a:endParaRPr>
          </a:p>
        </p:txBody>
      </p:sp>
      <p:sp>
        <p:nvSpPr>
          <p:cNvPr id="219" name="Google Shape;219;p21"/>
          <p:cNvSpPr/>
          <p:nvPr/>
        </p:nvSpPr>
        <p:spPr>
          <a:xfrm>
            <a:off x="1104525" y="2528283"/>
            <a:ext cx="2535900" cy="738900"/>
          </a:xfrm>
          <a:prstGeom prst="rect">
            <a:avLst/>
          </a:prstGeom>
          <a:solidFill>
            <a:srgbClr val="FCFCFC"/>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latin typeface="Calibri"/>
                <a:ea typeface="Calibri"/>
                <a:cs typeface="Calibri"/>
                <a:sym typeface="Calibri"/>
              </a:rPr>
              <a:t>Estágio 1:</a:t>
            </a:r>
            <a:endParaRPr b="1" sz="1600">
              <a:latin typeface="Calibri"/>
              <a:ea typeface="Calibri"/>
              <a:cs typeface="Calibri"/>
              <a:sym typeface="Calibri"/>
            </a:endParaRPr>
          </a:p>
          <a:p>
            <a:pPr indent="0" lvl="0" marL="0" rtl="0" algn="ctr">
              <a:spcBef>
                <a:spcPts val="0"/>
              </a:spcBef>
              <a:spcAft>
                <a:spcPts val="0"/>
              </a:spcAft>
              <a:buNone/>
            </a:pPr>
            <a:r>
              <a:rPr b="1" lang="en-US" sz="1600">
                <a:latin typeface="Calibri"/>
                <a:ea typeface="Calibri"/>
                <a:cs typeface="Calibri"/>
                <a:sym typeface="Calibri"/>
              </a:rPr>
              <a:t>Autenticação &amp; Entrada</a:t>
            </a:r>
            <a:endParaRPr b="1" sz="1600">
              <a:latin typeface="Calibri"/>
              <a:ea typeface="Calibri"/>
              <a:cs typeface="Calibri"/>
              <a:sym typeface="Calibri"/>
            </a:endParaRPr>
          </a:p>
        </p:txBody>
      </p:sp>
      <p:sp>
        <p:nvSpPr>
          <p:cNvPr id="220" name="Google Shape;220;p21"/>
          <p:cNvSpPr/>
          <p:nvPr/>
        </p:nvSpPr>
        <p:spPr>
          <a:xfrm>
            <a:off x="4641700" y="3522433"/>
            <a:ext cx="2862000" cy="1302000"/>
          </a:xfrm>
          <a:prstGeom prst="rect">
            <a:avLst/>
          </a:prstGeom>
          <a:solidFill>
            <a:srgbClr val="F3F3F3"/>
          </a:solidFill>
          <a:ln cap="flat" cmpd="sng" w="9525">
            <a:solidFill>
              <a:srgbClr val="434343"/>
            </a:solidFill>
            <a:prstDash val="solid"/>
            <a:round/>
            <a:headEnd len="sm" w="sm" type="none"/>
            <a:tailEnd len="sm" w="sm" type="none"/>
          </a:ln>
          <a:effectLst>
            <a:outerShdw blurRad="150000" dir="5400000" dist="30000">
              <a:srgbClr val="000000">
                <a:alpha val="149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666666"/>
                </a:solidFill>
                <a:latin typeface="Calibri"/>
                <a:ea typeface="Calibri"/>
                <a:cs typeface="Calibri"/>
                <a:sym typeface="Calibri"/>
              </a:rPr>
              <a:t>Execução durável, retries automáticos, retomada </a:t>
            </a:r>
            <a:r>
              <a:rPr lang="en-US" sz="1800">
                <a:solidFill>
                  <a:srgbClr val="666666"/>
                </a:solidFill>
                <a:latin typeface="Calibri"/>
                <a:ea typeface="Calibri"/>
                <a:cs typeface="Calibri"/>
                <a:sym typeface="Calibri"/>
              </a:rPr>
              <a:t>após</a:t>
            </a:r>
            <a:r>
              <a:rPr lang="en-US" sz="1800">
                <a:solidFill>
                  <a:srgbClr val="666666"/>
                </a:solidFill>
                <a:latin typeface="Calibri"/>
                <a:ea typeface="Calibri"/>
                <a:cs typeface="Calibri"/>
                <a:sym typeface="Calibri"/>
              </a:rPr>
              <a:t> </a:t>
            </a:r>
            <a:r>
              <a:rPr lang="en-US" sz="1800">
                <a:solidFill>
                  <a:srgbClr val="666666"/>
                </a:solidFill>
                <a:latin typeface="Calibri"/>
                <a:ea typeface="Calibri"/>
                <a:cs typeface="Calibri"/>
                <a:sym typeface="Calibri"/>
              </a:rPr>
              <a:t>falhas</a:t>
            </a:r>
            <a:r>
              <a:rPr lang="en-US" sz="1800">
                <a:solidFill>
                  <a:srgbClr val="666666"/>
                </a:solidFill>
                <a:latin typeface="Calibri"/>
                <a:ea typeface="Calibri"/>
                <a:cs typeface="Calibri"/>
                <a:sym typeface="Calibri"/>
              </a:rPr>
              <a:t> e deduplicação (Workflows/Activities)</a:t>
            </a:r>
            <a:r>
              <a:rPr lang="en-US" sz="1800">
                <a:solidFill>
                  <a:srgbClr val="666666"/>
                </a:solidFill>
                <a:latin typeface="Calibri"/>
                <a:ea typeface="Calibri"/>
                <a:cs typeface="Calibri"/>
                <a:sym typeface="Calibri"/>
              </a:rPr>
              <a:t>.</a:t>
            </a:r>
            <a:endParaRPr sz="1800">
              <a:solidFill>
                <a:srgbClr val="666666"/>
              </a:solidFill>
              <a:latin typeface="Calibri"/>
              <a:ea typeface="Calibri"/>
              <a:cs typeface="Calibri"/>
              <a:sym typeface="Calibri"/>
            </a:endParaRPr>
          </a:p>
        </p:txBody>
      </p:sp>
      <p:sp>
        <p:nvSpPr>
          <p:cNvPr id="221" name="Google Shape;221;p21"/>
          <p:cNvSpPr/>
          <p:nvPr/>
        </p:nvSpPr>
        <p:spPr>
          <a:xfrm>
            <a:off x="4641725" y="5035958"/>
            <a:ext cx="2862000" cy="738900"/>
          </a:xfrm>
          <a:prstGeom prst="rect">
            <a:avLst/>
          </a:prstGeom>
          <a:solidFill>
            <a:srgbClr val="F3F3F3"/>
          </a:solidFill>
          <a:ln cap="flat" cmpd="sng" w="9525">
            <a:solidFill>
              <a:srgbClr val="434343"/>
            </a:solidFill>
            <a:prstDash val="solid"/>
            <a:round/>
            <a:headEnd len="sm" w="sm" type="none"/>
            <a:tailEnd len="sm" w="sm" type="none"/>
          </a:ln>
          <a:effectLst>
            <a:outerShdw blurRad="150000" dir="5400000" dist="30000">
              <a:srgbClr val="000000">
                <a:alpha val="14900"/>
              </a:srgbClr>
            </a:outerShdw>
          </a:effectLst>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800">
                <a:solidFill>
                  <a:srgbClr val="666666"/>
                </a:solidFill>
                <a:latin typeface="Calibri"/>
                <a:ea typeface="Calibri"/>
                <a:cs typeface="Calibri"/>
                <a:sym typeface="Calibri"/>
              </a:rPr>
              <a:t>MCP Host (Agentes IA) + Tools API (BigQuery/Redis).</a:t>
            </a:r>
            <a:endParaRPr b="1" sz="1800">
              <a:solidFill>
                <a:schemeClr val="lt1"/>
              </a:solidFill>
              <a:latin typeface="Calibri"/>
              <a:ea typeface="Calibri"/>
              <a:cs typeface="Calibri"/>
              <a:sym typeface="Calibri"/>
            </a:endParaRPr>
          </a:p>
          <a:p>
            <a:pPr indent="0" lvl="0" marL="0" rtl="0" algn="ctr">
              <a:spcBef>
                <a:spcPts val="0"/>
              </a:spcBef>
              <a:spcAft>
                <a:spcPts val="0"/>
              </a:spcAft>
              <a:buNone/>
            </a:pPr>
            <a:r>
              <a:t/>
            </a:r>
            <a:endParaRPr b="1" sz="1800">
              <a:solidFill>
                <a:schemeClr val="lt1"/>
              </a:solidFill>
              <a:latin typeface="Calibri"/>
              <a:ea typeface="Calibri"/>
              <a:cs typeface="Calibri"/>
              <a:sym typeface="Calibri"/>
            </a:endParaRPr>
          </a:p>
        </p:txBody>
      </p:sp>
      <p:sp>
        <p:nvSpPr>
          <p:cNvPr id="222" name="Google Shape;222;p21"/>
          <p:cNvSpPr/>
          <p:nvPr/>
        </p:nvSpPr>
        <p:spPr>
          <a:xfrm>
            <a:off x="4713368" y="2429233"/>
            <a:ext cx="2725800" cy="861900"/>
          </a:xfrm>
          <a:prstGeom prst="rect">
            <a:avLst/>
          </a:prstGeom>
          <a:solidFill>
            <a:srgbClr val="FCFCFC"/>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latin typeface="Calibri"/>
                <a:ea typeface="Calibri"/>
                <a:cs typeface="Calibri"/>
                <a:sym typeface="Calibri"/>
              </a:rPr>
              <a:t>Estágio 2:</a:t>
            </a:r>
            <a:endParaRPr b="1" sz="1600">
              <a:latin typeface="Calibri"/>
              <a:ea typeface="Calibri"/>
              <a:cs typeface="Calibri"/>
              <a:sym typeface="Calibri"/>
            </a:endParaRPr>
          </a:p>
          <a:p>
            <a:pPr indent="0" lvl="0" marL="0" rtl="0" algn="ctr">
              <a:spcBef>
                <a:spcPts val="0"/>
              </a:spcBef>
              <a:spcAft>
                <a:spcPts val="0"/>
              </a:spcAft>
              <a:buNone/>
            </a:pPr>
            <a:r>
              <a:rPr b="1" lang="en-US" sz="1600">
                <a:latin typeface="Calibri"/>
                <a:ea typeface="Calibri"/>
                <a:cs typeface="Calibri"/>
                <a:sym typeface="Calibri"/>
              </a:rPr>
              <a:t>Caleta &amp; C</a:t>
            </a:r>
            <a:r>
              <a:rPr b="1" lang="en-US" sz="1600">
                <a:latin typeface="Calibri"/>
                <a:ea typeface="Calibri"/>
                <a:cs typeface="Calibri"/>
                <a:sym typeface="Calibri"/>
              </a:rPr>
              <a:t>onsolidação</a:t>
            </a:r>
            <a:endParaRPr b="1" sz="1600">
              <a:latin typeface="Calibri"/>
              <a:ea typeface="Calibri"/>
              <a:cs typeface="Calibri"/>
              <a:sym typeface="Calibri"/>
            </a:endParaRPr>
          </a:p>
          <a:p>
            <a:pPr indent="0" lvl="0" marL="0" rtl="0" algn="ctr">
              <a:spcBef>
                <a:spcPts val="0"/>
              </a:spcBef>
              <a:spcAft>
                <a:spcPts val="0"/>
              </a:spcAft>
              <a:buNone/>
            </a:pPr>
            <a:r>
              <a:rPr b="1" lang="en-US" sz="1600">
                <a:latin typeface="Calibri"/>
                <a:ea typeface="Calibri"/>
                <a:cs typeface="Calibri"/>
                <a:sym typeface="Calibri"/>
              </a:rPr>
              <a:t>(Motor Temporal.io)</a:t>
            </a:r>
            <a:endParaRPr b="1" sz="1600">
              <a:latin typeface="Calibri"/>
              <a:ea typeface="Calibri"/>
              <a:cs typeface="Calibri"/>
              <a:sym typeface="Calibri"/>
            </a:endParaRPr>
          </a:p>
        </p:txBody>
      </p:sp>
      <p:sp>
        <p:nvSpPr>
          <p:cNvPr id="223" name="Google Shape;223;p21"/>
          <p:cNvSpPr/>
          <p:nvPr/>
        </p:nvSpPr>
        <p:spPr>
          <a:xfrm>
            <a:off x="8478166" y="2528283"/>
            <a:ext cx="2535900" cy="738900"/>
          </a:xfrm>
          <a:prstGeom prst="rect">
            <a:avLst/>
          </a:prstGeom>
          <a:solidFill>
            <a:srgbClr val="FCFCFC"/>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latin typeface="Calibri"/>
                <a:ea typeface="Calibri"/>
                <a:cs typeface="Calibri"/>
                <a:sym typeface="Calibri"/>
              </a:rPr>
              <a:t>Estágio 3:</a:t>
            </a:r>
            <a:endParaRPr b="1" sz="1600">
              <a:latin typeface="Calibri"/>
              <a:ea typeface="Calibri"/>
              <a:cs typeface="Calibri"/>
              <a:sym typeface="Calibri"/>
            </a:endParaRPr>
          </a:p>
          <a:p>
            <a:pPr indent="0" lvl="0" marL="0" rtl="0" algn="ctr">
              <a:spcBef>
                <a:spcPts val="0"/>
              </a:spcBef>
              <a:spcAft>
                <a:spcPts val="0"/>
              </a:spcAft>
              <a:buNone/>
            </a:pPr>
            <a:r>
              <a:rPr b="1" lang="en-US" sz="1600">
                <a:latin typeface="Calibri"/>
                <a:ea typeface="Calibri"/>
                <a:cs typeface="Calibri"/>
                <a:sym typeface="Calibri"/>
              </a:rPr>
              <a:t>Notifica</a:t>
            </a:r>
            <a:r>
              <a:rPr b="1" lang="en-US" sz="1600">
                <a:solidFill>
                  <a:schemeClr val="dk1"/>
                </a:solidFill>
                <a:latin typeface="Calibri"/>
                <a:ea typeface="Calibri"/>
                <a:cs typeface="Calibri"/>
                <a:sym typeface="Calibri"/>
              </a:rPr>
              <a:t>ção Assíncrona</a:t>
            </a:r>
            <a:endParaRPr b="1" sz="1600">
              <a:latin typeface="Calibri"/>
              <a:ea typeface="Calibri"/>
              <a:cs typeface="Calibri"/>
              <a:sym typeface="Calibri"/>
            </a:endParaRPr>
          </a:p>
        </p:txBody>
      </p:sp>
      <p:sp>
        <p:nvSpPr>
          <p:cNvPr id="224" name="Google Shape;224;p21"/>
          <p:cNvSpPr/>
          <p:nvPr/>
        </p:nvSpPr>
        <p:spPr>
          <a:xfrm>
            <a:off x="8461629" y="3543308"/>
            <a:ext cx="2535900" cy="768600"/>
          </a:xfrm>
          <a:prstGeom prst="rect">
            <a:avLst/>
          </a:prstGeom>
          <a:solidFill>
            <a:srgbClr val="F3F3F3"/>
          </a:solidFill>
          <a:ln cap="flat" cmpd="sng" w="9525">
            <a:solidFill>
              <a:srgbClr val="434343"/>
            </a:solidFill>
            <a:prstDash val="solid"/>
            <a:round/>
            <a:headEnd len="sm" w="sm" type="none"/>
            <a:tailEnd len="sm" w="sm" type="none"/>
          </a:ln>
          <a:effectLst>
            <a:outerShdw blurRad="150000" dir="5400000" dist="30000">
              <a:srgbClr val="000000">
                <a:alpha val="149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666666"/>
                </a:solidFill>
                <a:latin typeface="Calibri"/>
                <a:ea typeface="Calibri"/>
                <a:cs typeface="Calibri"/>
                <a:sym typeface="Calibri"/>
              </a:rPr>
              <a:t>Gera</a:t>
            </a:r>
            <a:r>
              <a:rPr lang="en-US" sz="1800">
                <a:solidFill>
                  <a:srgbClr val="666666"/>
                </a:solidFill>
                <a:latin typeface="Calibri"/>
                <a:ea typeface="Calibri"/>
                <a:cs typeface="Calibri"/>
                <a:sym typeface="Calibri"/>
              </a:rPr>
              <a:t>ção de Documentos</a:t>
            </a:r>
            <a:endParaRPr sz="1800">
              <a:solidFill>
                <a:srgbClr val="666666"/>
              </a:solidFill>
              <a:latin typeface="Calibri"/>
              <a:ea typeface="Calibri"/>
              <a:cs typeface="Calibri"/>
              <a:sym typeface="Calibri"/>
            </a:endParaRPr>
          </a:p>
          <a:p>
            <a:pPr indent="0" lvl="0" marL="0" rtl="0" algn="l">
              <a:spcBef>
                <a:spcPts val="0"/>
              </a:spcBef>
              <a:spcAft>
                <a:spcPts val="0"/>
              </a:spcAft>
              <a:buNone/>
            </a:pPr>
            <a:r>
              <a:rPr lang="en-US" sz="1800">
                <a:solidFill>
                  <a:srgbClr val="666666"/>
                </a:solidFill>
                <a:latin typeface="Calibri"/>
                <a:ea typeface="Calibri"/>
                <a:cs typeface="Calibri"/>
                <a:sym typeface="Calibri"/>
              </a:rPr>
              <a:t>(Google Drive)</a:t>
            </a:r>
            <a:r>
              <a:rPr lang="en-US" sz="1800">
                <a:solidFill>
                  <a:srgbClr val="666666"/>
                </a:solidFill>
                <a:latin typeface="Calibri"/>
                <a:ea typeface="Calibri"/>
                <a:cs typeface="Calibri"/>
                <a:sym typeface="Calibri"/>
              </a:rPr>
              <a:t>.</a:t>
            </a:r>
            <a:endParaRPr sz="1800">
              <a:solidFill>
                <a:srgbClr val="666666"/>
              </a:solidFill>
              <a:latin typeface="Calibri"/>
              <a:ea typeface="Calibri"/>
              <a:cs typeface="Calibri"/>
              <a:sym typeface="Calibri"/>
            </a:endParaRPr>
          </a:p>
        </p:txBody>
      </p:sp>
      <p:sp>
        <p:nvSpPr>
          <p:cNvPr id="225" name="Google Shape;225;p21"/>
          <p:cNvSpPr/>
          <p:nvPr/>
        </p:nvSpPr>
        <p:spPr>
          <a:xfrm>
            <a:off x="8461629" y="4680933"/>
            <a:ext cx="2535900" cy="1075800"/>
          </a:xfrm>
          <a:prstGeom prst="rect">
            <a:avLst/>
          </a:prstGeom>
          <a:solidFill>
            <a:srgbClr val="F3F3F3"/>
          </a:solidFill>
          <a:ln cap="flat" cmpd="sng" w="9525">
            <a:solidFill>
              <a:srgbClr val="434343"/>
            </a:solidFill>
            <a:prstDash val="solid"/>
            <a:round/>
            <a:headEnd len="sm" w="sm" type="none"/>
            <a:tailEnd len="sm" w="sm" type="none"/>
          </a:ln>
          <a:effectLst>
            <a:outerShdw blurRad="150000" dir="5400000" dist="30000">
              <a:srgbClr val="000000">
                <a:alpha val="149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666666"/>
                </a:solidFill>
                <a:latin typeface="Calibri"/>
                <a:ea typeface="Calibri"/>
                <a:cs typeface="Calibri"/>
                <a:sym typeface="Calibri"/>
              </a:rPr>
              <a:t>GCP Pub/Sub envia status para o BD e dispara </a:t>
            </a:r>
            <a:r>
              <a:rPr lang="en-US" sz="1800">
                <a:solidFill>
                  <a:srgbClr val="666666"/>
                </a:solidFill>
                <a:latin typeface="Calibri"/>
                <a:ea typeface="Calibri"/>
                <a:cs typeface="Calibri"/>
                <a:sym typeface="Calibri"/>
              </a:rPr>
              <a:t>E-mail</a:t>
            </a:r>
            <a:r>
              <a:rPr lang="en-US" sz="1800">
                <a:solidFill>
                  <a:srgbClr val="666666"/>
                </a:solidFill>
                <a:latin typeface="Calibri"/>
                <a:ea typeface="Calibri"/>
                <a:cs typeface="Calibri"/>
                <a:sym typeface="Calibri"/>
              </a:rPr>
              <a:t>/Push</a:t>
            </a:r>
            <a:r>
              <a:rPr lang="en-US" sz="1800">
                <a:solidFill>
                  <a:srgbClr val="666666"/>
                </a:solidFill>
                <a:latin typeface="Calibri"/>
                <a:ea typeface="Calibri"/>
                <a:cs typeface="Calibri"/>
                <a:sym typeface="Calibri"/>
              </a:rPr>
              <a:t>.</a:t>
            </a:r>
            <a:endParaRPr b="1" sz="1800">
              <a:solidFill>
                <a:schemeClr val="lt1"/>
              </a:solidFill>
              <a:latin typeface="Calibri"/>
              <a:ea typeface="Calibri"/>
              <a:cs typeface="Calibri"/>
              <a:sym typeface="Calibri"/>
            </a:endParaRPr>
          </a:p>
          <a:p>
            <a:pPr indent="0" lvl="0" marL="0" rtl="0" algn="ctr">
              <a:spcBef>
                <a:spcPts val="0"/>
              </a:spcBef>
              <a:spcAft>
                <a:spcPts val="0"/>
              </a:spcAft>
              <a:buNone/>
            </a:pPr>
            <a:r>
              <a:t/>
            </a:r>
            <a:endParaRPr b="1" sz="1800">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p22"/>
          <p:cNvPicPr preferRelativeResize="0"/>
          <p:nvPr/>
        </p:nvPicPr>
        <p:blipFill rotWithShape="1">
          <a:blip r:embed="rId3">
            <a:alphaModFix/>
          </a:blip>
          <a:srcRect b="0" l="387" r="387" t="0"/>
          <a:stretch/>
        </p:blipFill>
        <p:spPr>
          <a:xfrm>
            <a:off x="0" y="0"/>
            <a:ext cx="12192000" cy="6858000"/>
          </a:xfrm>
          <a:prstGeom prst="rect">
            <a:avLst/>
          </a:prstGeom>
          <a:noFill/>
          <a:ln>
            <a:noFill/>
          </a:ln>
        </p:spPr>
      </p:pic>
      <p:sp>
        <p:nvSpPr>
          <p:cNvPr id="231" name="Google Shape;231;p22"/>
          <p:cNvSpPr/>
          <p:nvPr/>
        </p:nvSpPr>
        <p:spPr>
          <a:xfrm>
            <a:off x="552450" y="1143000"/>
            <a:ext cx="11087100" cy="4572000"/>
          </a:xfrm>
          <a:prstGeom prst="roundRect">
            <a:avLst>
              <a:gd fmla="val 4166" name="adj"/>
            </a:avLst>
          </a:prstGeom>
          <a:solidFill>
            <a:srgbClr val="0F172A">
              <a:alpha val="85000"/>
            </a:srgbClr>
          </a:solidFill>
          <a:ln cap="flat" cmpd="sng" w="1905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32" name="Google Shape;232;p22"/>
          <p:cNvCxnSpPr/>
          <p:nvPr/>
        </p:nvCxnSpPr>
        <p:spPr>
          <a:xfrm>
            <a:off x="1143000" y="3429000"/>
            <a:ext cx="1905000" cy="0"/>
          </a:xfrm>
          <a:prstGeom prst="straightConnector1">
            <a:avLst/>
          </a:prstGeom>
          <a:solidFill>
            <a:srgbClr val="FFFFFF"/>
          </a:solidFill>
          <a:ln cap="flat" cmpd="sng" w="57150">
            <a:solidFill>
              <a:srgbClr val="D97706"/>
            </a:solidFill>
            <a:prstDash val="solid"/>
            <a:round/>
            <a:headEnd len="sm" w="sm" type="none"/>
            <a:tailEnd len="sm" w="sm" type="none"/>
          </a:ln>
        </p:spPr>
      </p:cxnSp>
      <p:sp>
        <p:nvSpPr>
          <p:cNvPr id="233" name="Google Shape;233;p22"/>
          <p:cNvSpPr txBox="1"/>
          <p:nvPr/>
        </p:nvSpPr>
        <p:spPr>
          <a:xfrm>
            <a:off x="1143000" y="2286000"/>
            <a:ext cx="9906000" cy="304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D97706"/>
                </a:solidFill>
                <a:latin typeface="Georgia"/>
                <a:ea typeface="Georgia"/>
                <a:cs typeface="Georgia"/>
                <a:sym typeface="Georgia"/>
              </a:rPr>
              <a:t>CAPÍTULO 4</a:t>
            </a:r>
            <a:endParaRPr b="1" sz="1600">
              <a:solidFill>
                <a:srgbClr val="D97706"/>
              </a:solidFill>
              <a:latin typeface="Georgia"/>
              <a:ea typeface="Georgia"/>
              <a:cs typeface="Georgia"/>
              <a:sym typeface="Georgia"/>
            </a:endParaRPr>
          </a:p>
          <a:p>
            <a:pPr indent="0" lvl="0" marL="0" rtl="0" algn="l">
              <a:spcBef>
                <a:spcPts val="1125"/>
              </a:spcBef>
              <a:spcAft>
                <a:spcPts val="0"/>
              </a:spcAft>
              <a:buNone/>
            </a:pPr>
            <a:r>
              <a:rPr b="1" lang="en-US" sz="4200">
                <a:solidFill>
                  <a:srgbClr val="F1F5F9"/>
                </a:solidFill>
                <a:latin typeface="Georgia"/>
                <a:ea typeface="Georgia"/>
                <a:cs typeface="Georgia"/>
                <a:sym typeface="Georgia"/>
              </a:rPr>
              <a:t>Componentes e Padrões </a:t>
            </a:r>
            <a:endParaRPr b="1" sz="4200">
              <a:solidFill>
                <a:srgbClr val="F1F5F9"/>
              </a:solidFill>
              <a:latin typeface="Georgia"/>
              <a:ea typeface="Georgia"/>
              <a:cs typeface="Georgia"/>
              <a:sym typeface="Georgia"/>
            </a:endParaRPr>
          </a:p>
          <a:p>
            <a:pPr indent="0" lvl="0" marL="0" rtl="0" algn="l">
              <a:spcBef>
                <a:spcPts val="1500"/>
              </a:spcBef>
              <a:spcAft>
                <a:spcPts val="0"/>
              </a:spcAft>
              <a:buNone/>
            </a:pPr>
            <a:r>
              <a:rPr lang="en-US" sz="1800">
                <a:solidFill>
                  <a:srgbClr val="94A3B8"/>
                </a:solidFill>
              </a:rPr>
              <a:t>Arquitetura Hexagonal e MCP</a:t>
            </a:r>
            <a:endParaRPr b="0" sz="1800">
              <a:solidFill>
                <a:srgbClr val="94A3B8"/>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8" name="Shape 238"/>
        <p:cNvGrpSpPr/>
        <p:nvPr/>
      </p:nvGrpSpPr>
      <p:grpSpPr>
        <a:xfrm>
          <a:off x="0" y="0"/>
          <a:ext cx="0" cy="0"/>
          <a:chOff x="0" y="0"/>
          <a:chExt cx="0" cy="0"/>
        </a:xfrm>
      </p:grpSpPr>
      <p:sp>
        <p:nvSpPr>
          <p:cNvPr id="239" name="Google Shape;239;p23"/>
          <p:cNvSpPr/>
          <p:nvPr/>
        </p:nvSpPr>
        <p:spPr>
          <a:xfrm>
            <a:off x="548637" y="1587027"/>
            <a:ext cx="11094300" cy="4887300"/>
          </a:xfrm>
          <a:prstGeom prst="roundRect">
            <a:avLst>
              <a:gd fmla="val 5860" name="adj"/>
            </a:avLst>
          </a:prstGeom>
          <a:solidFill>
            <a:srgbClr val="FFFFFF">
              <a:alpha val="90000"/>
            </a:srgbClr>
          </a:solidFill>
          <a:ln>
            <a:noFill/>
          </a:ln>
          <a:effectLst>
            <a:outerShdw blurRad="150000" dir="5400000" dist="30000">
              <a:srgbClr val="000000">
                <a:alpha val="14900"/>
              </a:srgbClr>
            </a:outerShdw>
          </a:effectLst>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0" name="Google Shape;240;p23"/>
          <p:cNvSpPr/>
          <p:nvPr/>
        </p:nvSpPr>
        <p:spPr>
          <a:xfrm>
            <a:off x="548640" y="209550"/>
            <a:ext cx="11094300" cy="1162200"/>
          </a:xfrm>
          <a:prstGeom prst="roundRect">
            <a:avLst>
              <a:gd fmla="val 9836" name="adj"/>
            </a:avLst>
          </a:prstGeom>
          <a:solidFill>
            <a:srgbClr val="FCFCFC"/>
          </a:solidFill>
          <a:ln cap="flat" cmpd="sng" w="14300">
            <a:solidFill>
              <a:srgbClr val="F9F9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23"/>
          <p:cNvSpPr txBox="1"/>
          <p:nvPr/>
        </p:nvSpPr>
        <p:spPr>
          <a:xfrm>
            <a:off x="548640" y="267848"/>
            <a:ext cx="11094300" cy="184800"/>
          </a:xfrm>
          <a:prstGeom prst="rect">
            <a:avLst/>
          </a:prstGeom>
          <a:solidFill>
            <a:srgbClr val="000000">
              <a:alpha val="0"/>
            </a:srgbClr>
          </a:solidFill>
          <a:ln>
            <a:noFill/>
          </a:ln>
        </p:spPr>
        <p:txBody>
          <a:bodyPr anchorCtr="0" anchor="t" bIns="0" lIns="142875" spcFirstLastPara="1" rIns="0" wrap="square" tIns="0">
            <a:spAutoFit/>
          </a:bodyPr>
          <a:lstStyle/>
          <a:p>
            <a:pPr indent="0" lvl="0" marL="0" rtl="0" algn="l">
              <a:spcBef>
                <a:spcPts val="0"/>
              </a:spcBef>
              <a:spcAft>
                <a:spcPts val="0"/>
              </a:spcAft>
              <a:buNone/>
            </a:pPr>
            <a:r>
              <a:rPr b="1" lang="en-US" sz="1200">
                <a:solidFill>
                  <a:srgbClr val="D97706"/>
                </a:solidFill>
              </a:rPr>
              <a:t>DIAGRAMA DE CONTENTORES</a:t>
            </a:r>
            <a:endParaRPr b="1" sz="1200">
              <a:solidFill>
                <a:srgbClr val="D97706"/>
              </a:solidFill>
              <a:latin typeface="Arial"/>
              <a:ea typeface="Arial"/>
              <a:cs typeface="Arial"/>
              <a:sym typeface="Arial"/>
            </a:endParaRPr>
          </a:p>
        </p:txBody>
      </p:sp>
      <p:sp>
        <p:nvSpPr>
          <p:cNvPr id="242" name="Google Shape;242;p23"/>
          <p:cNvSpPr txBox="1"/>
          <p:nvPr/>
        </p:nvSpPr>
        <p:spPr>
          <a:xfrm>
            <a:off x="548640" y="476250"/>
            <a:ext cx="11094300" cy="738900"/>
          </a:xfrm>
          <a:prstGeom prst="rect">
            <a:avLst/>
          </a:prstGeom>
          <a:solidFill>
            <a:srgbClr val="000000">
              <a:alpha val="0"/>
            </a:srgbClr>
          </a:solidFill>
          <a:ln>
            <a:noFill/>
          </a:ln>
        </p:spPr>
        <p:txBody>
          <a:bodyPr anchorCtr="0" anchor="ctr" bIns="0" lIns="142875" spcFirstLastPara="1" rIns="142875" wrap="square" tIns="0">
            <a:spAutoFit/>
          </a:bodyPr>
          <a:lstStyle/>
          <a:p>
            <a:pPr indent="0" lvl="0" marL="0" rtl="0" algn="l">
              <a:spcBef>
                <a:spcPts val="0"/>
              </a:spcBef>
              <a:spcAft>
                <a:spcPts val="0"/>
              </a:spcAft>
              <a:buNone/>
            </a:pPr>
            <a:r>
              <a:rPr b="1" lang="en-US" sz="2400">
                <a:solidFill>
                  <a:srgbClr val="1E293B"/>
                </a:solidFill>
                <a:latin typeface="Georgia"/>
                <a:ea typeface="Georgia"/>
                <a:cs typeface="Georgia"/>
                <a:sym typeface="Georgia"/>
              </a:rPr>
              <a:t>Arquitetura de </a:t>
            </a:r>
            <a:r>
              <a:rPr b="1" lang="en-US" sz="2400">
                <a:solidFill>
                  <a:srgbClr val="1E293B"/>
                </a:solidFill>
                <a:latin typeface="Georgia"/>
                <a:ea typeface="Georgia"/>
                <a:cs typeface="Georgia"/>
                <a:sym typeface="Georgia"/>
              </a:rPr>
              <a:t>Componentes</a:t>
            </a:r>
            <a:endParaRPr b="1" sz="2400">
              <a:solidFill>
                <a:srgbClr val="1E293B"/>
              </a:solidFill>
              <a:latin typeface="Georgia"/>
              <a:ea typeface="Georgia"/>
              <a:cs typeface="Georgia"/>
              <a:sym typeface="Georgia"/>
            </a:endParaRPr>
          </a:p>
          <a:p>
            <a:pPr indent="0" lvl="0" marL="0" rtl="0" algn="l">
              <a:spcBef>
                <a:spcPts val="0"/>
              </a:spcBef>
              <a:spcAft>
                <a:spcPts val="0"/>
              </a:spcAft>
              <a:buNone/>
            </a:pPr>
            <a:r>
              <a:rPr b="1" lang="en-US" sz="2400">
                <a:solidFill>
                  <a:srgbClr val="1E293B"/>
                </a:solidFill>
                <a:latin typeface="Georgia"/>
                <a:ea typeface="Georgia"/>
                <a:cs typeface="Georgia"/>
                <a:sym typeface="Georgia"/>
              </a:rPr>
              <a:t>e Padrões Aplicados</a:t>
            </a:r>
            <a:endParaRPr b="1" sz="2400">
              <a:solidFill>
                <a:srgbClr val="1E293B"/>
              </a:solidFill>
              <a:latin typeface="Georgia"/>
              <a:ea typeface="Georgia"/>
              <a:cs typeface="Georgia"/>
              <a:sym typeface="Georgia"/>
            </a:endParaRPr>
          </a:p>
        </p:txBody>
      </p:sp>
      <p:sp>
        <p:nvSpPr>
          <p:cNvPr id="243" name="Google Shape;243;p23"/>
          <p:cNvSpPr/>
          <p:nvPr/>
        </p:nvSpPr>
        <p:spPr>
          <a:xfrm>
            <a:off x="691515" y="1257300"/>
            <a:ext cx="10808700" cy="19200"/>
          </a:xfrm>
          <a:prstGeom prst="rect">
            <a:avLst/>
          </a:prstGeom>
          <a:solidFill>
            <a:srgbClr val="D97706"/>
          </a:solidFill>
          <a:ln>
            <a:noFill/>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23"/>
          <p:cNvSpPr/>
          <p:nvPr/>
        </p:nvSpPr>
        <p:spPr>
          <a:xfrm>
            <a:off x="1049650" y="2218788"/>
            <a:ext cx="2832900" cy="1448400"/>
          </a:xfrm>
          <a:prstGeom prst="roundRect">
            <a:avLst>
              <a:gd fmla="val 933" name="adj"/>
            </a:avLst>
          </a:prstGeom>
          <a:solidFill>
            <a:srgbClr val="D9D9D9"/>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45" name="Google Shape;245;p23"/>
          <p:cNvSpPr/>
          <p:nvPr/>
        </p:nvSpPr>
        <p:spPr>
          <a:xfrm>
            <a:off x="910725" y="2123638"/>
            <a:ext cx="2862000" cy="1448400"/>
          </a:xfrm>
          <a:prstGeom prst="roundRect">
            <a:avLst>
              <a:gd fmla="val 1994" name="adj"/>
            </a:avLst>
          </a:prstGeom>
          <a:solidFill>
            <a:srgbClr val="FCFCF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246" name="Google Shape;246;p23"/>
          <p:cNvSpPr/>
          <p:nvPr/>
        </p:nvSpPr>
        <p:spPr>
          <a:xfrm>
            <a:off x="1049650" y="2334788"/>
            <a:ext cx="2535900" cy="994200"/>
          </a:xfrm>
          <a:prstGeom prst="rect">
            <a:avLst/>
          </a:prstGeom>
          <a:solidFill>
            <a:srgbClr val="FCFCFC"/>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a:latin typeface="Calibri"/>
                <a:ea typeface="Calibri"/>
                <a:cs typeface="Calibri"/>
                <a:sym typeface="Calibri"/>
              </a:rPr>
              <a:t>CQRS: </a:t>
            </a:r>
            <a:r>
              <a:rPr lang="en-US">
                <a:latin typeface="Calibri"/>
                <a:ea typeface="Calibri"/>
                <a:cs typeface="Calibri"/>
                <a:sym typeface="Calibri"/>
              </a:rPr>
              <a:t>Segregação rigorosa de comandos (acionamento) e Consultas (status no Banco de Dados de Sinistros).</a:t>
            </a:r>
            <a:endParaRPr>
              <a:latin typeface="Calibri"/>
              <a:ea typeface="Calibri"/>
              <a:cs typeface="Calibri"/>
              <a:sym typeface="Calibri"/>
            </a:endParaRPr>
          </a:p>
        </p:txBody>
      </p:sp>
      <p:sp>
        <p:nvSpPr>
          <p:cNvPr id="247" name="Google Shape;247;p23"/>
          <p:cNvSpPr/>
          <p:nvPr/>
        </p:nvSpPr>
        <p:spPr>
          <a:xfrm>
            <a:off x="1104550" y="4704650"/>
            <a:ext cx="2832900" cy="1448400"/>
          </a:xfrm>
          <a:prstGeom prst="roundRect">
            <a:avLst>
              <a:gd fmla="val 933" name="adj"/>
            </a:avLst>
          </a:prstGeom>
          <a:solidFill>
            <a:srgbClr val="D9D9D9"/>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48" name="Google Shape;248;p23"/>
          <p:cNvSpPr/>
          <p:nvPr/>
        </p:nvSpPr>
        <p:spPr>
          <a:xfrm>
            <a:off x="965625" y="4609500"/>
            <a:ext cx="2862000" cy="1448400"/>
          </a:xfrm>
          <a:prstGeom prst="roundRect">
            <a:avLst>
              <a:gd fmla="val 1994" name="adj"/>
            </a:avLst>
          </a:prstGeom>
          <a:solidFill>
            <a:srgbClr val="FCFCF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249" name="Google Shape;249;p23"/>
          <p:cNvSpPr/>
          <p:nvPr/>
        </p:nvSpPr>
        <p:spPr>
          <a:xfrm>
            <a:off x="1128675" y="4836600"/>
            <a:ext cx="2535900" cy="994200"/>
          </a:xfrm>
          <a:prstGeom prst="rect">
            <a:avLst/>
          </a:prstGeom>
          <a:solidFill>
            <a:srgbClr val="FCFCFC"/>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a:latin typeface="Calibri"/>
                <a:ea typeface="Calibri"/>
                <a:cs typeface="Calibri"/>
                <a:sym typeface="Calibri"/>
              </a:rPr>
              <a:t>Strategy</a:t>
            </a:r>
            <a:r>
              <a:rPr b="1" lang="en-US">
                <a:latin typeface="Calibri"/>
                <a:ea typeface="Calibri"/>
                <a:cs typeface="Calibri"/>
                <a:sym typeface="Calibri"/>
              </a:rPr>
              <a:t>: </a:t>
            </a:r>
            <a:r>
              <a:rPr lang="en-US">
                <a:latin typeface="Calibri"/>
                <a:ea typeface="Calibri"/>
                <a:cs typeface="Calibri"/>
                <a:sym typeface="Calibri"/>
              </a:rPr>
              <a:t>Canais de notificação intercambiáveis ​​(e-mail/push) em tempo de execução.</a:t>
            </a:r>
            <a:endParaRPr>
              <a:latin typeface="Calibri"/>
              <a:ea typeface="Calibri"/>
              <a:cs typeface="Calibri"/>
              <a:sym typeface="Calibri"/>
            </a:endParaRPr>
          </a:p>
        </p:txBody>
      </p:sp>
      <p:sp>
        <p:nvSpPr>
          <p:cNvPr id="250" name="Google Shape;250;p23"/>
          <p:cNvSpPr/>
          <p:nvPr/>
        </p:nvSpPr>
        <p:spPr>
          <a:xfrm>
            <a:off x="4561838" y="2673488"/>
            <a:ext cx="3040175" cy="2505225"/>
          </a:xfrm>
          <a:prstGeom prst="flowChartPreparation">
            <a:avLst/>
          </a:prstGeom>
          <a:solidFill>
            <a:srgbClr val="EFEFE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1" name="Google Shape;251;p23"/>
          <p:cNvSpPr/>
          <p:nvPr/>
        </p:nvSpPr>
        <p:spPr>
          <a:xfrm>
            <a:off x="4786513" y="3429013"/>
            <a:ext cx="2535900" cy="994200"/>
          </a:xfrm>
          <a:prstGeom prst="rect">
            <a:avLst/>
          </a:prstGeom>
          <a:solidFill>
            <a:srgbClr val="EFEFE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O</a:t>
            </a:r>
            <a:r>
              <a:rPr b="1" lang="en-US">
                <a:solidFill>
                  <a:schemeClr val="dk1"/>
                </a:solidFill>
                <a:latin typeface="Calibri"/>
                <a:ea typeface="Calibri"/>
                <a:cs typeface="Calibri"/>
                <a:sym typeface="Calibri"/>
              </a:rPr>
              <a:t> Core</a:t>
            </a:r>
            <a:r>
              <a:rPr lang="en-US">
                <a:solidFill>
                  <a:schemeClr val="dk1"/>
                </a:solidFill>
                <a:latin typeface="Calibri"/>
                <a:ea typeface="Calibri"/>
                <a:cs typeface="Calibri"/>
                <a:sym typeface="Calibri"/>
              </a:rPr>
              <a:t>: Arquitetura Hexagonal. Nenhum componente de negócio depende diretamente de infraestrutura externa.</a:t>
            </a:r>
            <a:endParaRPr>
              <a:latin typeface="Calibri"/>
              <a:ea typeface="Calibri"/>
              <a:cs typeface="Calibri"/>
              <a:sym typeface="Calibri"/>
            </a:endParaRPr>
          </a:p>
        </p:txBody>
      </p:sp>
      <p:sp>
        <p:nvSpPr>
          <p:cNvPr id="252" name="Google Shape;252;p23"/>
          <p:cNvSpPr/>
          <p:nvPr/>
        </p:nvSpPr>
        <p:spPr>
          <a:xfrm>
            <a:off x="8420250" y="2223670"/>
            <a:ext cx="2832900" cy="1448400"/>
          </a:xfrm>
          <a:prstGeom prst="roundRect">
            <a:avLst>
              <a:gd fmla="val 933" name="adj"/>
            </a:avLst>
          </a:prstGeom>
          <a:solidFill>
            <a:srgbClr val="D9D9D9"/>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53" name="Google Shape;253;p23"/>
          <p:cNvSpPr/>
          <p:nvPr/>
        </p:nvSpPr>
        <p:spPr>
          <a:xfrm>
            <a:off x="8281325" y="2128520"/>
            <a:ext cx="2862000" cy="1448400"/>
          </a:xfrm>
          <a:prstGeom prst="roundRect">
            <a:avLst>
              <a:gd fmla="val 1994" name="adj"/>
            </a:avLst>
          </a:prstGeom>
          <a:solidFill>
            <a:srgbClr val="FCFCF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254" name="Google Shape;254;p23"/>
          <p:cNvSpPr/>
          <p:nvPr/>
        </p:nvSpPr>
        <p:spPr>
          <a:xfrm>
            <a:off x="8444375" y="2342572"/>
            <a:ext cx="2535900" cy="994200"/>
          </a:xfrm>
          <a:prstGeom prst="rect">
            <a:avLst/>
          </a:prstGeom>
          <a:solidFill>
            <a:srgbClr val="FCFCFC"/>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a:latin typeface="Calibri"/>
                <a:ea typeface="Calibri"/>
                <a:cs typeface="Calibri"/>
                <a:sym typeface="Calibri"/>
              </a:rPr>
              <a:t>Publish-Subscribe</a:t>
            </a:r>
            <a:r>
              <a:rPr b="1" lang="en-US">
                <a:latin typeface="Calibri"/>
                <a:ea typeface="Calibri"/>
                <a:cs typeface="Calibri"/>
                <a:sym typeface="Calibri"/>
              </a:rPr>
              <a:t>: </a:t>
            </a:r>
            <a:r>
              <a:rPr lang="en-US">
                <a:latin typeface="Calibri"/>
                <a:ea typeface="Calibri"/>
                <a:cs typeface="Calibri"/>
                <a:sym typeface="Calibri"/>
              </a:rPr>
              <a:t>Desacoplamento na etapa final (Notificação ativa vs. atualização do banco de dados).</a:t>
            </a:r>
            <a:endParaRPr>
              <a:latin typeface="Calibri"/>
              <a:ea typeface="Calibri"/>
              <a:cs typeface="Calibri"/>
              <a:sym typeface="Calibri"/>
            </a:endParaRPr>
          </a:p>
        </p:txBody>
      </p:sp>
      <p:sp>
        <p:nvSpPr>
          <p:cNvPr id="255" name="Google Shape;255;p23"/>
          <p:cNvSpPr/>
          <p:nvPr/>
        </p:nvSpPr>
        <p:spPr>
          <a:xfrm>
            <a:off x="8365338" y="4819025"/>
            <a:ext cx="2832900" cy="1448400"/>
          </a:xfrm>
          <a:prstGeom prst="roundRect">
            <a:avLst>
              <a:gd fmla="val 933" name="adj"/>
            </a:avLst>
          </a:prstGeom>
          <a:solidFill>
            <a:srgbClr val="D9D9D9"/>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56" name="Google Shape;256;p23"/>
          <p:cNvSpPr/>
          <p:nvPr/>
        </p:nvSpPr>
        <p:spPr>
          <a:xfrm>
            <a:off x="8226413" y="4723875"/>
            <a:ext cx="2862000" cy="1448400"/>
          </a:xfrm>
          <a:prstGeom prst="roundRect">
            <a:avLst>
              <a:gd fmla="val 1994" name="adj"/>
            </a:avLst>
          </a:prstGeom>
          <a:solidFill>
            <a:srgbClr val="FCFCF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257" name="Google Shape;257;p23"/>
          <p:cNvSpPr/>
          <p:nvPr/>
        </p:nvSpPr>
        <p:spPr>
          <a:xfrm>
            <a:off x="8389463" y="4950975"/>
            <a:ext cx="2535900" cy="994200"/>
          </a:xfrm>
          <a:prstGeom prst="rect">
            <a:avLst/>
          </a:prstGeom>
          <a:solidFill>
            <a:srgbClr val="FCFCFC"/>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a:latin typeface="Calibri"/>
                <a:ea typeface="Calibri"/>
                <a:cs typeface="Calibri"/>
                <a:sym typeface="Calibri"/>
              </a:rPr>
              <a:t>Adapter &amp; Facade:</a:t>
            </a:r>
            <a:r>
              <a:rPr b="1" lang="en-US">
                <a:latin typeface="Calibri"/>
                <a:ea typeface="Calibri"/>
                <a:cs typeface="Calibri"/>
                <a:sym typeface="Calibri"/>
              </a:rPr>
              <a:t> </a:t>
            </a:r>
            <a:r>
              <a:rPr lang="en-US">
                <a:latin typeface="Calibri"/>
                <a:ea typeface="Calibri"/>
                <a:cs typeface="Calibri"/>
                <a:sym typeface="Calibri"/>
              </a:rPr>
              <a:t>Isolamento do SDk,modelos LLM e ponto único de entrada MCP.</a:t>
            </a:r>
            <a:endParaRPr>
              <a:latin typeface="Calibri"/>
              <a:ea typeface="Calibri"/>
              <a:cs typeface="Calibri"/>
              <a:sym typeface="Calibri"/>
            </a:endParaRPr>
          </a:p>
        </p:txBody>
      </p:sp>
      <p:cxnSp>
        <p:nvCxnSpPr>
          <p:cNvPr id="258" name="Google Shape;258;p23"/>
          <p:cNvCxnSpPr>
            <a:stCxn id="245" idx="3"/>
          </p:cNvCxnSpPr>
          <p:nvPr/>
        </p:nvCxnSpPr>
        <p:spPr>
          <a:xfrm>
            <a:off x="3772725" y="2847838"/>
            <a:ext cx="1015800" cy="531600"/>
          </a:xfrm>
          <a:prstGeom prst="straightConnector1">
            <a:avLst/>
          </a:prstGeom>
          <a:noFill/>
          <a:ln cap="flat" cmpd="sng" w="9525">
            <a:solidFill>
              <a:schemeClr val="dk2"/>
            </a:solidFill>
            <a:prstDash val="solid"/>
            <a:round/>
            <a:headEnd len="med" w="med" type="none"/>
            <a:tailEnd len="med" w="med" type="none"/>
          </a:ln>
        </p:spPr>
      </p:cxnSp>
      <p:cxnSp>
        <p:nvCxnSpPr>
          <p:cNvPr id="259" name="Google Shape;259;p23"/>
          <p:cNvCxnSpPr>
            <a:stCxn id="248" idx="3"/>
          </p:cNvCxnSpPr>
          <p:nvPr/>
        </p:nvCxnSpPr>
        <p:spPr>
          <a:xfrm flipH="1" rot="10800000">
            <a:off x="3827625" y="4449300"/>
            <a:ext cx="974100" cy="884400"/>
          </a:xfrm>
          <a:prstGeom prst="straightConnector1">
            <a:avLst/>
          </a:prstGeom>
          <a:noFill/>
          <a:ln cap="flat" cmpd="sng" w="9525">
            <a:solidFill>
              <a:schemeClr val="dk2"/>
            </a:solidFill>
            <a:prstDash val="solid"/>
            <a:round/>
            <a:headEnd len="med" w="med" type="none"/>
            <a:tailEnd len="med" w="med" type="none"/>
          </a:ln>
        </p:spPr>
      </p:cxnSp>
      <p:cxnSp>
        <p:nvCxnSpPr>
          <p:cNvPr id="260" name="Google Shape;260;p23"/>
          <p:cNvCxnSpPr>
            <a:stCxn id="253" idx="1"/>
          </p:cNvCxnSpPr>
          <p:nvPr/>
        </p:nvCxnSpPr>
        <p:spPr>
          <a:xfrm flipH="1">
            <a:off x="7345925" y="2852720"/>
            <a:ext cx="935400" cy="487500"/>
          </a:xfrm>
          <a:prstGeom prst="straightConnector1">
            <a:avLst/>
          </a:prstGeom>
          <a:noFill/>
          <a:ln cap="flat" cmpd="sng" w="9525">
            <a:solidFill>
              <a:schemeClr val="dk2"/>
            </a:solidFill>
            <a:prstDash val="solid"/>
            <a:round/>
            <a:headEnd len="med" w="med" type="none"/>
            <a:tailEnd len="med" w="med" type="none"/>
          </a:ln>
        </p:spPr>
      </p:cxnSp>
      <p:cxnSp>
        <p:nvCxnSpPr>
          <p:cNvPr id="261" name="Google Shape;261;p23"/>
          <p:cNvCxnSpPr>
            <a:stCxn id="256" idx="1"/>
          </p:cNvCxnSpPr>
          <p:nvPr/>
        </p:nvCxnSpPr>
        <p:spPr>
          <a:xfrm rot="10800000">
            <a:off x="7319813" y="4632075"/>
            <a:ext cx="906600" cy="8160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6" name="Shape 266"/>
        <p:cNvGrpSpPr/>
        <p:nvPr/>
      </p:nvGrpSpPr>
      <p:grpSpPr>
        <a:xfrm>
          <a:off x="0" y="0"/>
          <a:ext cx="0" cy="0"/>
          <a:chOff x="0" y="0"/>
          <a:chExt cx="0" cy="0"/>
        </a:xfrm>
      </p:grpSpPr>
      <p:sp>
        <p:nvSpPr>
          <p:cNvPr id="267" name="Google Shape;267;p24"/>
          <p:cNvSpPr/>
          <p:nvPr/>
        </p:nvSpPr>
        <p:spPr>
          <a:xfrm>
            <a:off x="548640" y="209550"/>
            <a:ext cx="11094300" cy="1162200"/>
          </a:xfrm>
          <a:prstGeom prst="roundRect">
            <a:avLst>
              <a:gd fmla="val 9836" name="adj"/>
            </a:avLst>
          </a:prstGeom>
          <a:solidFill>
            <a:srgbClr val="FCFCFC"/>
          </a:solidFill>
          <a:ln cap="flat" cmpd="sng" w="14300">
            <a:solidFill>
              <a:srgbClr val="F9F9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 name="Google Shape;268;p24"/>
          <p:cNvSpPr txBox="1"/>
          <p:nvPr/>
        </p:nvSpPr>
        <p:spPr>
          <a:xfrm>
            <a:off x="548640" y="254800"/>
            <a:ext cx="11094300" cy="184800"/>
          </a:xfrm>
          <a:prstGeom prst="rect">
            <a:avLst/>
          </a:prstGeom>
          <a:solidFill>
            <a:srgbClr val="000000">
              <a:alpha val="0"/>
            </a:srgbClr>
          </a:solidFill>
          <a:ln>
            <a:noFill/>
          </a:ln>
        </p:spPr>
        <p:txBody>
          <a:bodyPr anchorCtr="0" anchor="t" bIns="0" lIns="142875" spcFirstLastPara="1" rIns="0" wrap="square" tIns="0">
            <a:spAutoFit/>
          </a:bodyPr>
          <a:lstStyle/>
          <a:p>
            <a:pPr indent="0" lvl="0" marL="0" rtl="0" algn="l">
              <a:spcBef>
                <a:spcPts val="0"/>
              </a:spcBef>
              <a:spcAft>
                <a:spcPts val="0"/>
              </a:spcAft>
              <a:buNone/>
            </a:pPr>
            <a:r>
              <a:rPr b="1" lang="en-US" sz="1200">
                <a:solidFill>
                  <a:srgbClr val="D97706"/>
                </a:solidFill>
              </a:rPr>
              <a:t>FLUXO DE CONTEXTO</a:t>
            </a:r>
            <a:endParaRPr b="1" sz="1200">
              <a:solidFill>
                <a:srgbClr val="D97706"/>
              </a:solidFill>
              <a:latin typeface="Arial"/>
              <a:ea typeface="Arial"/>
              <a:cs typeface="Arial"/>
              <a:sym typeface="Arial"/>
            </a:endParaRPr>
          </a:p>
        </p:txBody>
      </p:sp>
      <p:sp>
        <p:nvSpPr>
          <p:cNvPr id="269" name="Google Shape;269;p24"/>
          <p:cNvSpPr txBox="1"/>
          <p:nvPr/>
        </p:nvSpPr>
        <p:spPr>
          <a:xfrm>
            <a:off x="548640" y="476250"/>
            <a:ext cx="11094300" cy="738900"/>
          </a:xfrm>
          <a:prstGeom prst="rect">
            <a:avLst/>
          </a:prstGeom>
          <a:solidFill>
            <a:srgbClr val="000000">
              <a:alpha val="0"/>
            </a:srgbClr>
          </a:solidFill>
          <a:ln>
            <a:noFill/>
          </a:ln>
        </p:spPr>
        <p:txBody>
          <a:bodyPr anchorCtr="0" anchor="ctr" bIns="0" lIns="142875" spcFirstLastPara="1" rIns="142875" wrap="square" tIns="0">
            <a:spAutoFit/>
          </a:bodyPr>
          <a:lstStyle/>
          <a:p>
            <a:pPr indent="0" lvl="0" marL="0" rtl="0" algn="l">
              <a:spcBef>
                <a:spcPts val="0"/>
              </a:spcBef>
              <a:spcAft>
                <a:spcPts val="0"/>
              </a:spcAft>
              <a:buClr>
                <a:schemeClr val="dk1"/>
              </a:buClr>
              <a:buSzPts val="1100"/>
              <a:buFont typeface="Arial"/>
              <a:buNone/>
            </a:pPr>
            <a:r>
              <a:rPr b="1" lang="en-US" sz="2400">
                <a:solidFill>
                  <a:srgbClr val="1E293B"/>
                </a:solidFill>
                <a:latin typeface="Georgia"/>
                <a:ea typeface="Georgia"/>
                <a:cs typeface="Georgia"/>
                <a:sym typeface="Georgia"/>
              </a:rPr>
              <a:t>Arquitetura Extensível Usando </a:t>
            </a:r>
            <a:endParaRPr b="1" sz="2400">
              <a:solidFill>
                <a:srgbClr val="1E293B"/>
              </a:solidFill>
              <a:latin typeface="Georgia"/>
              <a:ea typeface="Georgia"/>
              <a:cs typeface="Georgia"/>
              <a:sym typeface="Georgia"/>
            </a:endParaRPr>
          </a:p>
          <a:p>
            <a:pPr indent="0" lvl="0" marL="0" rtl="0" algn="l">
              <a:spcBef>
                <a:spcPts val="0"/>
              </a:spcBef>
              <a:spcAft>
                <a:spcPts val="0"/>
              </a:spcAft>
              <a:buClr>
                <a:schemeClr val="dk1"/>
              </a:buClr>
              <a:buFont typeface="Arial"/>
              <a:buNone/>
            </a:pPr>
            <a:r>
              <a:rPr b="1" lang="en-US" sz="2400">
                <a:solidFill>
                  <a:srgbClr val="1E293B"/>
                </a:solidFill>
                <a:latin typeface="Georgia"/>
                <a:ea typeface="Georgia"/>
                <a:cs typeface="Georgia"/>
                <a:sym typeface="Georgia"/>
              </a:rPr>
              <a:t>o Protocolo MCP</a:t>
            </a:r>
            <a:endParaRPr b="1" sz="2400">
              <a:solidFill>
                <a:srgbClr val="1E293B"/>
              </a:solidFill>
              <a:latin typeface="Georgia"/>
              <a:ea typeface="Georgia"/>
              <a:cs typeface="Georgia"/>
              <a:sym typeface="Georgia"/>
            </a:endParaRPr>
          </a:p>
        </p:txBody>
      </p:sp>
      <p:sp>
        <p:nvSpPr>
          <p:cNvPr id="270" name="Google Shape;270;p24"/>
          <p:cNvSpPr/>
          <p:nvPr/>
        </p:nvSpPr>
        <p:spPr>
          <a:xfrm>
            <a:off x="691515" y="1257300"/>
            <a:ext cx="10808700" cy="19200"/>
          </a:xfrm>
          <a:prstGeom prst="rect">
            <a:avLst/>
          </a:prstGeom>
          <a:solidFill>
            <a:srgbClr val="D97706"/>
          </a:solidFill>
          <a:ln>
            <a:noFill/>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1" name="Google Shape;271;p24"/>
          <p:cNvSpPr/>
          <p:nvPr/>
        </p:nvSpPr>
        <p:spPr>
          <a:xfrm>
            <a:off x="548637" y="1587027"/>
            <a:ext cx="11094300" cy="4887300"/>
          </a:xfrm>
          <a:prstGeom prst="roundRect">
            <a:avLst>
              <a:gd fmla="val 5860" name="adj"/>
            </a:avLst>
          </a:prstGeom>
          <a:solidFill>
            <a:srgbClr val="FFFFFF">
              <a:alpha val="90000"/>
            </a:srgbClr>
          </a:solidFill>
          <a:ln>
            <a:noFill/>
          </a:ln>
          <a:effectLst>
            <a:outerShdw blurRad="150000" dir="5400000" dist="30000">
              <a:srgbClr val="000000">
                <a:alpha val="14900"/>
              </a:srgbClr>
            </a:outerShdw>
          </a:effectLst>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2" name="Google Shape;272;p24"/>
          <p:cNvSpPr/>
          <p:nvPr/>
        </p:nvSpPr>
        <p:spPr>
          <a:xfrm>
            <a:off x="3148570" y="2225351"/>
            <a:ext cx="1056900" cy="1252200"/>
          </a:xfrm>
          <a:prstGeom prst="rect">
            <a:avLst/>
          </a:prstGeom>
          <a:solidFill>
            <a:srgbClr val="F9F9F9"/>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200">
                <a:latin typeface="Calibri"/>
                <a:ea typeface="Calibri"/>
                <a:cs typeface="Calibri"/>
                <a:sym typeface="Calibri"/>
              </a:rPr>
              <a:t>Agent</a:t>
            </a:r>
            <a:endParaRPr b="1" sz="1200">
              <a:latin typeface="Calibri"/>
              <a:ea typeface="Calibri"/>
              <a:cs typeface="Calibri"/>
              <a:sym typeface="Calibri"/>
            </a:endParaRPr>
          </a:p>
          <a:p>
            <a:pPr indent="0" lvl="0" marL="0" rtl="0" algn="ctr">
              <a:spcBef>
                <a:spcPts val="0"/>
              </a:spcBef>
              <a:spcAft>
                <a:spcPts val="0"/>
              </a:spcAft>
              <a:buNone/>
            </a:pPr>
            <a:r>
              <a:rPr b="1" lang="en-US" sz="1200">
                <a:latin typeface="Calibri"/>
                <a:ea typeface="Calibri"/>
                <a:cs typeface="Calibri"/>
                <a:sym typeface="Calibri"/>
              </a:rPr>
              <a:t>Orchestrator</a:t>
            </a:r>
            <a:endParaRPr b="1" sz="1200">
              <a:latin typeface="Calibri"/>
              <a:ea typeface="Calibri"/>
              <a:cs typeface="Calibri"/>
              <a:sym typeface="Calibri"/>
            </a:endParaRPr>
          </a:p>
        </p:txBody>
      </p:sp>
      <p:sp>
        <p:nvSpPr>
          <p:cNvPr id="273" name="Google Shape;273;p24"/>
          <p:cNvSpPr/>
          <p:nvPr/>
        </p:nvSpPr>
        <p:spPr>
          <a:xfrm>
            <a:off x="2997958" y="2094188"/>
            <a:ext cx="1358100" cy="126300"/>
          </a:xfrm>
          <a:prstGeom prst="rect">
            <a:avLst/>
          </a:prstGeom>
          <a:solidFill>
            <a:srgbClr val="F9F9F9"/>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4" name="Google Shape;274;p24"/>
          <p:cNvSpPr/>
          <p:nvPr/>
        </p:nvSpPr>
        <p:spPr>
          <a:xfrm>
            <a:off x="2983233" y="3452611"/>
            <a:ext cx="1358100" cy="126300"/>
          </a:xfrm>
          <a:prstGeom prst="rect">
            <a:avLst/>
          </a:prstGeom>
          <a:solidFill>
            <a:srgbClr val="F9F9F9"/>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5" name="Google Shape;275;p24"/>
          <p:cNvSpPr/>
          <p:nvPr/>
        </p:nvSpPr>
        <p:spPr>
          <a:xfrm>
            <a:off x="5672098" y="2225351"/>
            <a:ext cx="532500" cy="1252200"/>
          </a:xfrm>
          <a:prstGeom prst="rect">
            <a:avLst/>
          </a:prstGeom>
          <a:solidFill>
            <a:srgbClr val="C9DAF8"/>
          </a:solidFill>
          <a:ln cap="flat" cmpd="sng" w="2857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200">
              <a:latin typeface="Calibri"/>
              <a:ea typeface="Calibri"/>
              <a:cs typeface="Calibri"/>
              <a:sym typeface="Calibri"/>
            </a:endParaRPr>
          </a:p>
        </p:txBody>
      </p:sp>
      <p:sp>
        <p:nvSpPr>
          <p:cNvPr id="276" name="Google Shape;276;p24"/>
          <p:cNvSpPr/>
          <p:nvPr/>
        </p:nvSpPr>
        <p:spPr>
          <a:xfrm>
            <a:off x="5435114" y="2096007"/>
            <a:ext cx="1056900" cy="126300"/>
          </a:xfrm>
          <a:prstGeom prst="rect">
            <a:avLst/>
          </a:prstGeom>
          <a:solidFill>
            <a:srgbClr val="C9DAF8"/>
          </a:solidFill>
          <a:ln cap="flat" cmpd="sng" w="2857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7" name="Google Shape;277;p24"/>
          <p:cNvSpPr/>
          <p:nvPr/>
        </p:nvSpPr>
        <p:spPr>
          <a:xfrm>
            <a:off x="7605638" y="2225350"/>
            <a:ext cx="1056900" cy="1252200"/>
          </a:xfrm>
          <a:prstGeom prst="rect">
            <a:avLst/>
          </a:prstGeom>
          <a:solidFill>
            <a:srgbClr val="F9F9F9"/>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200">
                <a:latin typeface="Calibri"/>
                <a:ea typeface="Calibri"/>
                <a:cs typeface="Calibri"/>
                <a:sym typeface="Calibri"/>
              </a:rPr>
              <a:t>Domínio de</a:t>
            </a:r>
            <a:endParaRPr b="1" sz="1200">
              <a:latin typeface="Calibri"/>
              <a:ea typeface="Calibri"/>
              <a:cs typeface="Calibri"/>
              <a:sym typeface="Calibri"/>
            </a:endParaRPr>
          </a:p>
          <a:p>
            <a:pPr indent="0" lvl="0" marL="0" rtl="0" algn="ctr">
              <a:spcBef>
                <a:spcPts val="0"/>
              </a:spcBef>
              <a:spcAft>
                <a:spcPts val="0"/>
              </a:spcAft>
              <a:buNone/>
            </a:pPr>
            <a:r>
              <a:rPr b="1" lang="en-US" sz="1200">
                <a:latin typeface="Calibri"/>
                <a:ea typeface="Calibri"/>
                <a:cs typeface="Calibri"/>
                <a:sym typeface="Calibri"/>
              </a:rPr>
              <a:t>Sinistros</a:t>
            </a:r>
            <a:endParaRPr b="1" sz="1200">
              <a:latin typeface="Calibri"/>
              <a:ea typeface="Calibri"/>
              <a:cs typeface="Calibri"/>
              <a:sym typeface="Calibri"/>
            </a:endParaRPr>
          </a:p>
          <a:p>
            <a:pPr indent="0" lvl="0" marL="0" rtl="0" algn="ctr">
              <a:spcBef>
                <a:spcPts val="0"/>
              </a:spcBef>
              <a:spcAft>
                <a:spcPts val="0"/>
              </a:spcAft>
              <a:buNone/>
            </a:pPr>
            <a:r>
              <a:rPr b="1" lang="en-US" sz="1200">
                <a:latin typeface="Calibri"/>
                <a:ea typeface="Calibri"/>
                <a:cs typeface="Calibri"/>
                <a:sym typeface="Calibri"/>
              </a:rPr>
              <a:t>(consulta apólice, imagens).</a:t>
            </a:r>
            <a:endParaRPr b="1" sz="1200">
              <a:latin typeface="Calibri"/>
              <a:ea typeface="Calibri"/>
              <a:cs typeface="Calibri"/>
              <a:sym typeface="Calibri"/>
            </a:endParaRPr>
          </a:p>
        </p:txBody>
      </p:sp>
      <p:sp>
        <p:nvSpPr>
          <p:cNvPr id="278" name="Google Shape;278;p24"/>
          <p:cNvSpPr/>
          <p:nvPr/>
        </p:nvSpPr>
        <p:spPr>
          <a:xfrm>
            <a:off x="7453255" y="2094193"/>
            <a:ext cx="1358100" cy="126300"/>
          </a:xfrm>
          <a:prstGeom prst="rect">
            <a:avLst/>
          </a:prstGeom>
          <a:solidFill>
            <a:srgbClr val="F9F9F9"/>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9" name="Google Shape;279;p24"/>
          <p:cNvSpPr/>
          <p:nvPr/>
        </p:nvSpPr>
        <p:spPr>
          <a:xfrm>
            <a:off x="7453255" y="3482400"/>
            <a:ext cx="1358100" cy="126300"/>
          </a:xfrm>
          <a:prstGeom prst="rect">
            <a:avLst/>
          </a:prstGeom>
          <a:solidFill>
            <a:srgbClr val="F9F9F9"/>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80" name="Google Shape;280;p24"/>
          <p:cNvSpPr/>
          <p:nvPr/>
        </p:nvSpPr>
        <p:spPr>
          <a:xfrm>
            <a:off x="5409889" y="3480609"/>
            <a:ext cx="1056900" cy="126300"/>
          </a:xfrm>
          <a:prstGeom prst="rect">
            <a:avLst/>
          </a:prstGeom>
          <a:solidFill>
            <a:srgbClr val="C9DAF8"/>
          </a:solidFill>
          <a:ln cap="flat" cmpd="sng" w="2857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81" name="Google Shape;281;p24"/>
          <p:cNvSpPr/>
          <p:nvPr/>
        </p:nvSpPr>
        <p:spPr>
          <a:xfrm>
            <a:off x="721450" y="1833750"/>
            <a:ext cx="1840500" cy="992400"/>
          </a:xfrm>
          <a:prstGeom prst="rect">
            <a:avLst/>
          </a:prstGeom>
          <a:solidFill>
            <a:schemeClr val="lt1"/>
          </a:solidFill>
          <a:ln cap="flat" cmpd="sng" w="2857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1300">
                <a:solidFill>
                  <a:srgbClr val="434343"/>
                </a:solidFill>
                <a:latin typeface="Calibri"/>
                <a:ea typeface="Calibri"/>
                <a:cs typeface="Calibri"/>
                <a:sym typeface="Calibri"/>
              </a:rPr>
              <a:t>Motor de Orquestração: </a:t>
            </a:r>
            <a:r>
              <a:rPr lang="en-US" sz="1300">
                <a:solidFill>
                  <a:srgbClr val="434343"/>
                </a:solidFill>
                <a:latin typeface="Calibri"/>
                <a:ea typeface="Calibri"/>
                <a:cs typeface="Calibri"/>
                <a:sym typeface="Calibri"/>
              </a:rPr>
              <a:t>Isolado e independente de domínio. </a:t>
            </a:r>
            <a:endParaRPr b="1" sz="1300">
              <a:solidFill>
                <a:srgbClr val="434343"/>
              </a:solidFill>
              <a:latin typeface="Calibri"/>
              <a:ea typeface="Calibri"/>
              <a:cs typeface="Calibri"/>
              <a:sym typeface="Calibri"/>
            </a:endParaRPr>
          </a:p>
        </p:txBody>
      </p:sp>
      <p:cxnSp>
        <p:nvCxnSpPr>
          <p:cNvPr id="282" name="Google Shape;282;p24"/>
          <p:cNvCxnSpPr>
            <a:stCxn id="281" idx="3"/>
            <a:endCxn id="273" idx="1"/>
          </p:cNvCxnSpPr>
          <p:nvPr/>
        </p:nvCxnSpPr>
        <p:spPr>
          <a:xfrm flipH="1" rot="10800000">
            <a:off x="2561950" y="2157450"/>
            <a:ext cx="435900" cy="172500"/>
          </a:xfrm>
          <a:prstGeom prst="straightConnector1">
            <a:avLst/>
          </a:prstGeom>
          <a:noFill/>
          <a:ln cap="flat" cmpd="sng" w="19050">
            <a:solidFill>
              <a:schemeClr val="dk2"/>
            </a:solidFill>
            <a:prstDash val="dot"/>
            <a:round/>
            <a:headEnd len="med" w="med" type="none"/>
            <a:tailEnd len="med" w="med" type="triangle"/>
          </a:ln>
        </p:spPr>
      </p:cxnSp>
      <p:sp>
        <p:nvSpPr>
          <p:cNvPr id="283" name="Google Shape;283;p24"/>
          <p:cNvSpPr txBox="1"/>
          <p:nvPr/>
        </p:nvSpPr>
        <p:spPr>
          <a:xfrm>
            <a:off x="3050125" y="1662450"/>
            <a:ext cx="1224300" cy="42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800">
                <a:solidFill>
                  <a:schemeClr val="dk1"/>
                </a:solidFill>
                <a:latin typeface="Calibri"/>
                <a:ea typeface="Calibri"/>
                <a:cs typeface="Calibri"/>
                <a:sym typeface="Calibri"/>
              </a:rPr>
              <a:t>MCP Host</a:t>
            </a:r>
            <a:endParaRPr b="1" sz="1800">
              <a:solidFill>
                <a:schemeClr val="dk1"/>
              </a:solidFill>
              <a:latin typeface="Calibri"/>
              <a:ea typeface="Calibri"/>
              <a:cs typeface="Calibri"/>
              <a:sym typeface="Calibri"/>
            </a:endParaRPr>
          </a:p>
        </p:txBody>
      </p:sp>
      <p:sp>
        <p:nvSpPr>
          <p:cNvPr id="284" name="Google Shape;284;p24"/>
          <p:cNvSpPr txBox="1"/>
          <p:nvPr/>
        </p:nvSpPr>
        <p:spPr>
          <a:xfrm>
            <a:off x="4947350" y="1666050"/>
            <a:ext cx="1987800" cy="42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800">
                <a:solidFill>
                  <a:srgbClr val="0B5394"/>
                </a:solidFill>
                <a:latin typeface="Calibri"/>
                <a:ea typeface="Calibri"/>
                <a:cs typeface="Calibri"/>
                <a:sym typeface="Calibri"/>
              </a:rPr>
              <a:t>O Protocolo </a:t>
            </a:r>
            <a:r>
              <a:rPr b="1" lang="en-US" sz="1800">
                <a:solidFill>
                  <a:srgbClr val="0B5394"/>
                </a:solidFill>
                <a:latin typeface="Calibri"/>
                <a:ea typeface="Calibri"/>
                <a:cs typeface="Calibri"/>
                <a:sym typeface="Calibri"/>
              </a:rPr>
              <a:t>MCP</a:t>
            </a:r>
            <a:endParaRPr b="1" sz="1800">
              <a:solidFill>
                <a:srgbClr val="0B5394"/>
              </a:solidFill>
              <a:latin typeface="Calibri"/>
              <a:ea typeface="Calibri"/>
              <a:cs typeface="Calibri"/>
              <a:sym typeface="Calibri"/>
            </a:endParaRPr>
          </a:p>
        </p:txBody>
      </p:sp>
      <p:sp>
        <p:nvSpPr>
          <p:cNvPr id="285" name="Google Shape;285;p24"/>
          <p:cNvSpPr txBox="1"/>
          <p:nvPr/>
        </p:nvSpPr>
        <p:spPr>
          <a:xfrm>
            <a:off x="6947695" y="1666050"/>
            <a:ext cx="2446500" cy="42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800">
                <a:solidFill>
                  <a:srgbClr val="38761D"/>
                </a:solidFill>
                <a:latin typeface="Calibri"/>
                <a:ea typeface="Calibri"/>
                <a:cs typeface="Calibri"/>
                <a:sym typeface="Calibri"/>
              </a:rPr>
              <a:t>MCP Server/Tools API</a:t>
            </a:r>
            <a:endParaRPr b="1" sz="1800">
              <a:solidFill>
                <a:srgbClr val="38761D"/>
              </a:solidFill>
              <a:latin typeface="Calibri"/>
              <a:ea typeface="Calibri"/>
              <a:cs typeface="Calibri"/>
              <a:sym typeface="Calibri"/>
            </a:endParaRPr>
          </a:p>
        </p:txBody>
      </p:sp>
      <p:sp>
        <p:nvSpPr>
          <p:cNvPr id="286" name="Google Shape;286;p24"/>
          <p:cNvSpPr/>
          <p:nvPr/>
        </p:nvSpPr>
        <p:spPr>
          <a:xfrm>
            <a:off x="4326638" y="2482500"/>
            <a:ext cx="1224300" cy="338700"/>
          </a:xfrm>
          <a:prstGeom prst="rightArrow">
            <a:avLst>
              <a:gd fmla="val 50000" name="adj1"/>
              <a:gd fmla="val 50000" name="adj2"/>
            </a:avLst>
          </a:prstGeom>
          <a:solidFill>
            <a:srgbClr val="CFE2F3"/>
          </a:solidFill>
          <a:ln cap="flat" cmpd="sng" w="19050">
            <a:solidFill>
              <a:srgbClr val="0B5394"/>
            </a:solidFill>
            <a:prstDash val="solid"/>
            <a:round/>
            <a:headEnd len="sm" w="sm" type="none"/>
            <a:tailEnd len="sm" w="sm" type="none"/>
          </a:ln>
          <a:effectLst>
            <a:outerShdw blurRad="150000" dir="5400000" dist="30000">
              <a:srgbClr val="000000">
                <a:alpha val="149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87" name="Google Shape;287;p24"/>
          <p:cNvSpPr/>
          <p:nvPr/>
        </p:nvSpPr>
        <p:spPr>
          <a:xfrm>
            <a:off x="6292975" y="2453052"/>
            <a:ext cx="1224300" cy="338700"/>
          </a:xfrm>
          <a:prstGeom prst="rightArrow">
            <a:avLst>
              <a:gd fmla="val 50000" name="adj1"/>
              <a:gd fmla="val 50000" name="adj2"/>
            </a:avLst>
          </a:prstGeom>
          <a:solidFill>
            <a:srgbClr val="CFE2F3"/>
          </a:solidFill>
          <a:ln cap="flat" cmpd="sng" w="19050">
            <a:solidFill>
              <a:srgbClr val="0B5394"/>
            </a:solidFill>
            <a:prstDash val="solid"/>
            <a:round/>
            <a:headEnd len="sm" w="sm" type="none"/>
            <a:tailEnd len="sm" w="sm" type="none"/>
          </a:ln>
          <a:effectLst>
            <a:outerShdw blurRad="150000" dir="5400000" dist="30000">
              <a:srgbClr val="000000">
                <a:alpha val="149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88" name="Google Shape;288;p24"/>
          <p:cNvSpPr/>
          <p:nvPr/>
        </p:nvSpPr>
        <p:spPr>
          <a:xfrm rot="10800000">
            <a:off x="4274413" y="3010998"/>
            <a:ext cx="1224300" cy="338700"/>
          </a:xfrm>
          <a:prstGeom prst="rightArrow">
            <a:avLst>
              <a:gd fmla="val 50000" name="adj1"/>
              <a:gd fmla="val 50000" name="adj2"/>
            </a:avLst>
          </a:prstGeom>
          <a:solidFill>
            <a:srgbClr val="CFE2F3"/>
          </a:solidFill>
          <a:ln cap="flat" cmpd="sng" w="19050">
            <a:solidFill>
              <a:srgbClr val="0B5394"/>
            </a:solidFill>
            <a:prstDash val="solid"/>
            <a:round/>
            <a:headEnd len="sm" w="sm" type="none"/>
            <a:tailEnd len="sm" w="sm" type="none"/>
          </a:ln>
          <a:effectLst>
            <a:outerShdw blurRad="150000" dir="5400000" dist="30000">
              <a:srgbClr val="000000">
                <a:alpha val="149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89" name="Google Shape;289;p24"/>
          <p:cNvSpPr/>
          <p:nvPr/>
        </p:nvSpPr>
        <p:spPr>
          <a:xfrm rot="10800000">
            <a:off x="6279045" y="3041347"/>
            <a:ext cx="1224300" cy="338700"/>
          </a:xfrm>
          <a:prstGeom prst="rightArrow">
            <a:avLst>
              <a:gd fmla="val 50000" name="adj1"/>
              <a:gd fmla="val 50000" name="adj2"/>
            </a:avLst>
          </a:prstGeom>
          <a:solidFill>
            <a:srgbClr val="CFE2F3"/>
          </a:solidFill>
          <a:ln cap="flat" cmpd="sng" w="19050">
            <a:solidFill>
              <a:srgbClr val="0B5394"/>
            </a:solidFill>
            <a:prstDash val="solid"/>
            <a:round/>
            <a:headEnd len="sm" w="sm" type="none"/>
            <a:tailEnd len="sm" w="sm" type="none"/>
          </a:ln>
          <a:effectLst>
            <a:outerShdw blurRad="150000" dir="5400000" dist="30000">
              <a:srgbClr val="000000">
                <a:alpha val="149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90" name="Google Shape;290;p24"/>
          <p:cNvSpPr txBox="1"/>
          <p:nvPr/>
        </p:nvSpPr>
        <p:spPr>
          <a:xfrm>
            <a:off x="4274425" y="2212725"/>
            <a:ext cx="1224300" cy="42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chemeClr val="dk1"/>
                </a:solidFill>
                <a:latin typeface="Calibri"/>
                <a:ea typeface="Calibri"/>
                <a:cs typeface="Calibri"/>
                <a:sym typeface="Calibri"/>
              </a:rPr>
              <a:t>tools/list</a:t>
            </a:r>
            <a:endParaRPr sz="1800">
              <a:solidFill>
                <a:schemeClr val="dk1"/>
              </a:solidFill>
              <a:latin typeface="Calibri"/>
              <a:ea typeface="Calibri"/>
              <a:cs typeface="Calibri"/>
              <a:sym typeface="Calibri"/>
            </a:endParaRPr>
          </a:p>
        </p:txBody>
      </p:sp>
      <p:sp>
        <p:nvSpPr>
          <p:cNvPr id="291" name="Google Shape;291;p24"/>
          <p:cNvSpPr txBox="1"/>
          <p:nvPr/>
        </p:nvSpPr>
        <p:spPr>
          <a:xfrm>
            <a:off x="6292975" y="2735575"/>
            <a:ext cx="1224300" cy="42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chemeClr val="dk1"/>
                </a:solidFill>
                <a:latin typeface="Calibri"/>
                <a:ea typeface="Calibri"/>
                <a:cs typeface="Calibri"/>
                <a:sym typeface="Calibri"/>
              </a:rPr>
              <a:t>tools/call</a:t>
            </a:r>
            <a:endParaRPr sz="1800">
              <a:solidFill>
                <a:schemeClr val="dk1"/>
              </a:solidFill>
              <a:latin typeface="Calibri"/>
              <a:ea typeface="Calibri"/>
              <a:cs typeface="Calibri"/>
              <a:sym typeface="Calibri"/>
            </a:endParaRPr>
          </a:p>
        </p:txBody>
      </p:sp>
      <p:sp>
        <p:nvSpPr>
          <p:cNvPr id="292" name="Google Shape;292;p24"/>
          <p:cNvSpPr/>
          <p:nvPr/>
        </p:nvSpPr>
        <p:spPr>
          <a:xfrm>
            <a:off x="795575" y="3322375"/>
            <a:ext cx="1967100" cy="992400"/>
          </a:xfrm>
          <a:prstGeom prst="rect">
            <a:avLst/>
          </a:prstGeom>
          <a:solidFill>
            <a:schemeClr val="lt1"/>
          </a:solidFill>
          <a:ln cap="flat" cmpd="sng" w="28575">
            <a:solidFill>
              <a:schemeClr val="dk2"/>
            </a:solidFill>
            <a:prstDash val="lgDash"/>
            <a:round/>
            <a:headEnd len="sm" w="sm" type="none"/>
            <a:tailEnd len="sm" w="sm" type="none"/>
          </a:ln>
        </p:spPr>
        <p:txBody>
          <a:bodyPr anchorCtr="0" anchor="ctr" bIns="91425" lIns="91425" spcFirstLastPara="1" rIns="91425" wrap="square" tIns="91425">
            <a:noAutofit/>
          </a:bodyPr>
          <a:lstStyle/>
          <a:p>
            <a:pPr indent="0" lvl="0" marL="0" rtl="0" algn="l">
              <a:spcBef>
                <a:spcPts val="400"/>
              </a:spcBef>
              <a:spcAft>
                <a:spcPts val="0"/>
              </a:spcAft>
              <a:buNone/>
            </a:pPr>
            <a:r>
              <a:rPr b="1" lang="en-US" sz="1300">
                <a:solidFill>
                  <a:srgbClr val="434343"/>
                </a:solidFill>
                <a:latin typeface="Calibri"/>
                <a:ea typeface="Calibri"/>
                <a:cs typeface="Calibri"/>
                <a:sym typeface="Calibri"/>
              </a:rPr>
              <a:t>Prompt Config Store: </a:t>
            </a:r>
            <a:r>
              <a:rPr lang="en-US" sz="1300">
                <a:solidFill>
                  <a:srgbClr val="434343"/>
                </a:solidFill>
                <a:latin typeface="Calibri"/>
                <a:ea typeface="Calibri"/>
                <a:cs typeface="Calibri"/>
                <a:sym typeface="Calibri"/>
              </a:rPr>
              <a:t>Carrega prompts, modelos e chaves em runtime</a:t>
            </a:r>
            <a:r>
              <a:rPr lang="en-US" sz="1300">
                <a:solidFill>
                  <a:srgbClr val="434343"/>
                </a:solidFill>
                <a:latin typeface="Calibri"/>
                <a:ea typeface="Calibri"/>
                <a:cs typeface="Calibri"/>
                <a:sym typeface="Calibri"/>
              </a:rPr>
              <a:t>. </a:t>
            </a:r>
            <a:endParaRPr b="1" sz="1300">
              <a:solidFill>
                <a:srgbClr val="434343"/>
              </a:solidFill>
              <a:latin typeface="Calibri"/>
              <a:ea typeface="Calibri"/>
              <a:cs typeface="Calibri"/>
              <a:sym typeface="Calibri"/>
            </a:endParaRPr>
          </a:p>
        </p:txBody>
      </p:sp>
      <p:sp>
        <p:nvSpPr>
          <p:cNvPr id="293" name="Google Shape;293;p24"/>
          <p:cNvSpPr/>
          <p:nvPr/>
        </p:nvSpPr>
        <p:spPr>
          <a:xfrm>
            <a:off x="1192675" y="4811000"/>
            <a:ext cx="1967100" cy="1317600"/>
          </a:xfrm>
          <a:prstGeom prst="rect">
            <a:avLst/>
          </a:prstGeom>
          <a:solidFill>
            <a:schemeClr val="lt1"/>
          </a:solidFill>
          <a:ln cap="flat" cmpd="sng" w="2857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400"/>
              </a:spcBef>
              <a:spcAft>
                <a:spcPts val="0"/>
              </a:spcAft>
              <a:buNone/>
            </a:pPr>
            <a:r>
              <a:rPr b="1" lang="en-US" sz="1300">
                <a:solidFill>
                  <a:srgbClr val="434343"/>
                </a:solidFill>
                <a:latin typeface="Calibri"/>
                <a:ea typeface="Calibri"/>
                <a:cs typeface="Calibri"/>
                <a:sym typeface="Calibri"/>
              </a:rPr>
              <a:t>Conectividade Dinâmica:</a:t>
            </a:r>
            <a:r>
              <a:rPr lang="en-US" sz="1300">
                <a:solidFill>
                  <a:srgbClr val="434343"/>
                </a:solidFill>
                <a:latin typeface="Calibri"/>
                <a:ea typeface="Calibri"/>
                <a:cs typeface="Calibri"/>
                <a:sym typeface="Calibri"/>
              </a:rPr>
              <a:t> Descobre ferramentas em tempo de execução via protocolo MCP</a:t>
            </a:r>
            <a:r>
              <a:rPr lang="en-US" sz="1300">
                <a:solidFill>
                  <a:srgbClr val="434343"/>
                </a:solidFill>
                <a:latin typeface="Calibri"/>
                <a:ea typeface="Calibri"/>
                <a:cs typeface="Calibri"/>
                <a:sym typeface="Calibri"/>
              </a:rPr>
              <a:t> </a:t>
            </a:r>
            <a:endParaRPr b="1" sz="1300">
              <a:solidFill>
                <a:srgbClr val="434343"/>
              </a:solidFill>
              <a:latin typeface="Calibri"/>
              <a:ea typeface="Calibri"/>
              <a:cs typeface="Calibri"/>
              <a:sym typeface="Calibri"/>
            </a:endParaRPr>
          </a:p>
        </p:txBody>
      </p:sp>
      <p:sp>
        <p:nvSpPr>
          <p:cNvPr id="294" name="Google Shape;294;p24"/>
          <p:cNvSpPr/>
          <p:nvPr/>
        </p:nvSpPr>
        <p:spPr>
          <a:xfrm>
            <a:off x="3367775" y="4487750"/>
            <a:ext cx="1840500" cy="1317600"/>
          </a:xfrm>
          <a:prstGeom prst="rect">
            <a:avLst/>
          </a:prstGeom>
          <a:solidFill>
            <a:schemeClr val="lt1"/>
          </a:solidFill>
          <a:ln cap="flat" cmpd="sng" w="28575">
            <a:solidFill>
              <a:srgbClr val="6D9EEB"/>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800"/>
              </a:spcBef>
              <a:spcAft>
                <a:spcPts val="0"/>
              </a:spcAft>
              <a:buNone/>
            </a:pPr>
            <a:r>
              <a:rPr b="1" lang="en-US" sz="1300">
                <a:solidFill>
                  <a:srgbClr val="434343"/>
                </a:solidFill>
                <a:latin typeface="Calibri"/>
                <a:ea typeface="Calibri"/>
                <a:cs typeface="Calibri"/>
                <a:sym typeface="Calibri"/>
              </a:rPr>
              <a:t>Protocolo Aberto:</a:t>
            </a:r>
            <a:r>
              <a:rPr lang="en-US" sz="1300">
                <a:solidFill>
                  <a:srgbClr val="434343"/>
                </a:solidFill>
                <a:latin typeface="Calibri"/>
                <a:ea typeface="Calibri"/>
                <a:cs typeface="Calibri"/>
                <a:sym typeface="Calibri"/>
              </a:rPr>
              <a:t> Criado pela Anthropic, padroniza a comunicação cliente/servidor para IA.</a:t>
            </a:r>
            <a:r>
              <a:rPr lang="en-US" sz="1300">
                <a:solidFill>
                  <a:srgbClr val="434343"/>
                </a:solidFill>
                <a:latin typeface="Calibri"/>
                <a:ea typeface="Calibri"/>
                <a:cs typeface="Calibri"/>
                <a:sym typeface="Calibri"/>
              </a:rPr>
              <a:t> </a:t>
            </a:r>
            <a:endParaRPr b="1" sz="1300">
              <a:solidFill>
                <a:srgbClr val="434343"/>
              </a:solidFill>
              <a:latin typeface="Calibri"/>
              <a:ea typeface="Calibri"/>
              <a:cs typeface="Calibri"/>
              <a:sym typeface="Calibri"/>
            </a:endParaRPr>
          </a:p>
        </p:txBody>
      </p:sp>
      <p:sp>
        <p:nvSpPr>
          <p:cNvPr id="295" name="Google Shape;295;p24"/>
          <p:cNvSpPr/>
          <p:nvPr/>
        </p:nvSpPr>
        <p:spPr>
          <a:xfrm>
            <a:off x="5360775" y="4681700"/>
            <a:ext cx="1716000" cy="1446900"/>
          </a:xfrm>
          <a:prstGeom prst="rect">
            <a:avLst/>
          </a:prstGeom>
          <a:solidFill>
            <a:schemeClr val="lt1"/>
          </a:solidFill>
          <a:ln cap="flat" cmpd="sng" w="28575">
            <a:solidFill>
              <a:srgbClr val="6D9EEB"/>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400"/>
              </a:spcBef>
              <a:spcAft>
                <a:spcPts val="0"/>
              </a:spcAft>
              <a:buNone/>
            </a:pPr>
            <a:r>
              <a:rPr b="1" lang="en-US" sz="1300">
                <a:solidFill>
                  <a:srgbClr val="434343"/>
                </a:solidFill>
                <a:latin typeface="Calibri"/>
                <a:ea typeface="Calibri"/>
                <a:cs typeface="Calibri"/>
                <a:sym typeface="Calibri"/>
              </a:rPr>
              <a:t>Descoberta Dinâmica: </a:t>
            </a:r>
            <a:r>
              <a:rPr lang="en-US" sz="1300">
                <a:solidFill>
                  <a:srgbClr val="434343"/>
                </a:solidFill>
                <a:latin typeface="Calibri"/>
                <a:ea typeface="Calibri"/>
                <a:cs typeface="Calibri"/>
                <a:sym typeface="Calibri"/>
              </a:rPr>
              <a:t>O cliente descobre as ferramentas oferecidas pelo servidor (tools/list) e as invoca (tools/call)</a:t>
            </a:r>
            <a:r>
              <a:rPr lang="en-US" sz="1300">
                <a:solidFill>
                  <a:srgbClr val="434343"/>
                </a:solidFill>
                <a:latin typeface="Calibri"/>
                <a:ea typeface="Calibri"/>
                <a:cs typeface="Calibri"/>
                <a:sym typeface="Calibri"/>
              </a:rPr>
              <a:t>.</a:t>
            </a:r>
            <a:endParaRPr b="1" sz="1300">
              <a:solidFill>
                <a:srgbClr val="434343"/>
              </a:solidFill>
              <a:latin typeface="Calibri"/>
              <a:ea typeface="Calibri"/>
              <a:cs typeface="Calibri"/>
              <a:sym typeface="Calibri"/>
            </a:endParaRPr>
          </a:p>
        </p:txBody>
      </p:sp>
      <p:sp>
        <p:nvSpPr>
          <p:cNvPr id="296" name="Google Shape;296;p24"/>
          <p:cNvSpPr/>
          <p:nvPr/>
        </p:nvSpPr>
        <p:spPr>
          <a:xfrm>
            <a:off x="9387925" y="1744550"/>
            <a:ext cx="2112300" cy="1417800"/>
          </a:xfrm>
          <a:prstGeom prst="rect">
            <a:avLst/>
          </a:prstGeom>
          <a:solidFill>
            <a:schemeClr val="lt1"/>
          </a:solidFill>
          <a:ln cap="flat" cmpd="sng" w="28575">
            <a:solidFill>
              <a:srgbClr val="38761D"/>
            </a:solidFill>
            <a:prstDash val="dash"/>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US" sz="1300">
                <a:solidFill>
                  <a:srgbClr val="434343"/>
                </a:solidFill>
              </a:rPr>
              <a:t>Extensível a Novos Domínios: </a:t>
            </a:r>
            <a:r>
              <a:rPr lang="en-US" sz="1300">
                <a:solidFill>
                  <a:srgbClr val="434343"/>
                </a:solidFill>
              </a:rPr>
              <a:t>Novas áreas expõem seu próprio MCP Server em até 10 dias-homem.</a:t>
            </a:r>
            <a:endParaRPr sz="1300">
              <a:solidFill>
                <a:srgbClr val="434343"/>
              </a:solidFill>
            </a:endParaRPr>
          </a:p>
        </p:txBody>
      </p:sp>
      <p:sp>
        <p:nvSpPr>
          <p:cNvPr id="297" name="Google Shape;297;p24"/>
          <p:cNvSpPr/>
          <p:nvPr/>
        </p:nvSpPr>
        <p:spPr>
          <a:xfrm>
            <a:off x="9512425" y="3352523"/>
            <a:ext cx="1987800" cy="882600"/>
          </a:xfrm>
          <a:prstGeom prst="rect">
            <a:avLst/>
          </a:prstGeom>
          <a:solidFill>
            <a:schemeClr val="lt1"/>
          </a:solidFill>
          <a:ln cap="flat" cmpd="sng" w="28575">
            <a:solidFill>
              <a:srgbClr val="38761D"/>
            </a:solidFill>
            <a:prstDash val="dash"/>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US" sz="1300">
                <a:solidFill>
                  <a:srgbClr val="434343"/>
                </a:solidFill>
                <a:latin typeface="Calibri"/>
                <a:ea typeface="Calibri"/>
                <a:cs typeface="Calibri"/>
                <a:sym typeface="Calibri"/>
              </a:rPr>
              <a:t> Integração Segura: </a:t>
            </a:r>
            <a:r>
              <a:rPr lang="en-US" sz="1300">
                <a:solidFill>
                  <a:srgbClr val="434343"/>
                </a:solidFill>
                <a:latin typeface="Calibri"/>
                <a:ea typeface="Calibri"/>
                <a:cs typeface="Calibri"/>
                <a:sym typeface="Calibri"/>
              </a:rPr>
              <a:t>Consulta apólice, laudos e fotos nos legados.</a:t>
            </a:r>
            <a:endParaRPr b="1" sz="1200">
              <a:solidFill>
                <a:srgbClr val="434343"/>
              </a:solidFill>
              <a:latin typeface="Calibri"/>
              <a:ea typeface="Calibri"/>
              <a:cs typeface="Calibri"/>
              <a:sym typeface="Calibri"/>
            </a:endParaRPr>
          </a:p>
        </p:txBody>
      </p:sp>
      <p:sp>
        <p:nvSpPr>
          <p:cNvPr id="298" name="Google Shape;298;p24"/>
          <p:cNvSpPr/>
          <p:nvPr/>
        </p:nvSpPr>
        <p:spPr>
          <a:xfrm>
            <a:off x="9151500" y="4607250"/>
            <a:ext cx="1840500" cy="1446900"/>
          </a:xfrm>
          <a:prstGeom prst="rect">
            <a:avLst/>
          </a:prstGeom>
          <a:solidFill>
            <a:schemeClr val="lt1"/>
          </a:solidFill>
          <a:ln cap="flat" cmpd="sng" w="28575">
            <a:solidFill>
              <a:srgbClr val="38761D"/>
            </a:solidFill>
            <a:prstDash val="dash"/>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US" sz="1300">
                <a:solidFill>
                  <a:srgbClr val="434343"/>
                </a:solidFill>
                <a:latin typeface="Calibri"/>
                <a:ea typeface="Calibri"/>
                <a:cs typeface="Calibri"/>
                <a:sym typeface="Calibri"/>
              </a:rPr>
              <a:t>Extensível &amp; Especializado: </a:t>
            </a:r>
            <a:r>
              <a:rPr lang="en-US" sz="1300">
                <a:solidFill>
                  <a:srgbClr val="434343"/>
                </a:solidFill>
                <a:latin typeface="Calibri"/>
                <a:ea typeface="Calibri"/>
                <a:cs typeface="Calibri"/>
                <a:sym typeface="Calibri"/>
              </a:rPr>
              <a:t>Encapsula as ferramentas (tools) específicas do domínio (ex: sinistros).</a:t>
            </a:r>
            <a:r>
              <a:rPr lang="en-US" sz="1200">
                <a:solidFill>
                  <a:srgbClr val="434343"/>
                </a:solidFill>
              </a:rPr>
              <a:t> </a:t>
            </a:r>
            <a:endParaRPr sz="1200">
              <a:solidFill>
                <a:srgbClr val="434343"/>
              </a:solidFill>
            </a:endParaRPr>
          </a:p>
        </p:txBody>
      </p:sp>
      <p:cxnSp>
        <p:nvCxnSpPr>
          <p:cNvPr id="299" name="Google Shape;299;p24"/>
          <p:cNvCxnSpPr>
            <a:stCxn id="292" idx="0"/>
            <a:endCxn id="272" idx="1"/>
          </p:cNvCxnSpPr>
          <p:nvPr/>
        </p:nvCxnSpPr>
        <p:spPr>
          <a:xfrm flipH="1" rot="10800000">
            <a:off x="1779125" y="2851375"/>
            <a:ext cx="1369500" cy="471000"/>
          </a:xfrm>
          <a:prstGeom prst="straightConnector1">
            <a:avLst/>
          </a:prstGeom>
          <a:noFill/>
          <a:ln cap="flat" cmpd="sng" w="19050">
            <a:solidFill>
              <a:schemeClr val="dk2"/>
            </a:solidFill>
            <a:prstDash val="dot"/>
            <a:round/>
            <a:headEnd len="med" w="med" type="none"/>
            <a:tailEnd len="med" w="med" type="triangle"/>
          </a:ln>
        </p:spPr>
      </p:cxnSp>
      <p:cxnSp>
        <p:nvCxnSpPr>
          <p:cNvPr id="300" name="Google Shape;300;p24"/>
          <p:cNvCxnSpPr>
            <a:stCxn id="293" idx="0"/>
            <a:endCxn id="274" idx="2"/>
          </p:cNvCxnSpPr>
          <p:nvPr/>
        </p:nvCxnSpPr>
        <p:spPr>
          <a:xfrm flipH="1" rot="10800000">
            <a:off x="2176225" y="3578900"/>
            <a:ext cx="1486200" cy="1232100"/>
          </a:xfrm>
          <a:prstGeom prst="straightConnector1">
            <a:avLst/>
          </a:prstGeom>
          <a:noFill/>
          <a:ln cap="flat" cmpd="sng" w="19050">
            <a:solidFill>
              <a:schemeClr val="dk2"/>
            </a:solidFill>
            <a:prstDash val="dot"/>
            <a:round/>
            <a:headEnd len="med" w="med" type="none"/>
            <a:tailEnd len="med" w="med" type="triangle"/>
          </a:ln>
        </p:spPr>
      </p:cxnSp>
      <p:cxnSp>
        <p:nvCxnSpPr>
          <p:cNvPr id="301" name="Google Shape;301;p24"/>
          <p:cNvCxnSpPr>
            <a:stCxn id="294" idx="0"/>
            <a:endCxn id="280" idx="1"/>
          </p:cNvCxnSpPr>
          <p:nvPr/>
        </p:nvCxnSpPr>
        <p:spPr>
          <a:xfrm flipH="1" rot="10800000">
            <a:off x="4288025" y="3543650"/>
            <a:ext cx="1122000" cy="944100"/>
          </a:xfrm>
          <a:prstGeom prst="straightConnector1">
            <a:avLst/>
          </a:prstGeom>
          <a:noFill/>
          <a:ln cap="flat" cmpd="sng" w="19050">
            <a:solidFill>
              <a:schemeClr val="dk2"/>
            </a:solidFill>
            <a:prstDash val="dot"/>
            <a:round/>
            <a:headEnd len="med" w="med" type="none"/>
            <a:tailEnd len="med" w="med" type="triangle"/>
          </a:ln>
        </p:spPr>
      </p:cxnSp>
      <p:sp>
        <p:nvSpPr>
          <p:cNvPr id="302" name="Google Shape;302;p24"/>
          <p:cNvSpPr/>
          <p:nvPr/>
        </p:nvSpPr>
        <p:spPr>
          <a:xfrm>
            <a:off x="7229285" y="4426400"/>
            <a:ext cx="1716000" cy="1531500"/>
          </a:xfrm>
          <a:prstGeom prst="rect">
            <a:avLst/>
          </a:prstGeom>
          <a:solidFill>
            <a:schemeClr val="lt1"/>
          </a:solidFill>
          <a:ln cap="flat" cmpd="sng" w="28575">
            <a:solidFill>
              <a:srgbClr val="6D9EEB"/>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400"/>
              </a:spcBef>
              <a:spcAft>
                <a:spcPts val="0"/>
              </a:spcAft>
              <a:buNone/>
            </a:pPr>
            <a:r>
              <a:rPr b="1" lang="en-US" sz="1300">
                <a:solidFill>
                  <a:srgbClr val="434343"/>
                </a:solidFill>
              </a:rPr>
              <a:t>I</a:t>
            </a:r>
            <a:r>
              <a:rPr b="1" lang="en-US" sz="1300">
                <a:solidFill>
                  <a:srgbClr val="434343"/>
                </a:solidFill>
                <a:latin typeface="Calibri"/>
                <a:ea typeface="Calibri"/>
                <a:cs typeface="Calibri"/>
                <a:sym typeface="Calibri"/>
              </a:rPr>
              <a:t>ndependência de Stack: </a:t>
            </a:r>
            <a:r>
              <a:rPr lang="en-US" sz="1300">
                <a:solidFill>
                  <a:srgbClr val="434343"/>
                </a:solidFill>
                <a:latin typeface="Calibri"/>
                <a:ea typeface="Calibri"/>
                <a:cs typeface="Calibri"/>
                <a:sym typeface="Calibri"/>
              </a:rPr>
              <a:t>Permite evoluir ferramentas e adicionar domínios sem mexer no orquestrador.</a:t>
            </a:r>
            <a:endParaRPr sz="1300">
              <a:solidFill>
                <a:srgbClr val="434343"/>
              </a:solidFill>
              <a:latin typeface="Calibri"/>
              <a:ea typeface="Calibri"/>
              <a:cs typeface="Calibri"/>
              <a:sym typeface="Calibri"/>
            </a:endParaRPr>
          </a:p>
        </p:txBody>
      </p:sp>
      <p:cxnSp>
        <p:nvCxnSpPr>
          <p:cNvPr id="303" name="Google Shape;303;p24"/>
          <p:cNvCxnSpPr>
            <a:stCxn id="295" idx="0"/>
            <a:endCxn id="280" idx="2"/>
          </p:cNvCxnSpPr>
          <p:nvPr/>
        </p:nvCxnSpPr>
        <p:spPr>
          <a:xfrm rot="10800000">
            <a:off x="5938275" y="3606800"/>
            <a:ext cx="280500" cy="1074900"/>
          </a:xfrm>
          <a:prstGeom prst="straightConnector1">
            <a:avLst/>
          </a:prstGeom>
          <a:noFill/>
          <a:ln cap="flat" cmpd="sng" w="19050">
            <a:solidFill>
              <a:schemeClr val="dk2"/>
            </a:solidFill>
            <a:prstDash val="dot"/>
            <a:round/>
            <a:headEnd len="med" w="med" type="none"/>
            <a:tailEnd len="med" w="med" type="triangle"/>
          </a:ln>
        </p:spPr>
      </p:cxnSp>
      <p:cxnSp>
        <p:nvCxnSpPr>
          <p:cNvPr id="304" name="Google Shape;304;p24"/>
          <p:cNvCxnSpPr>
            <a:stCxn id="302" idx="0"/>
            <a:endCxn id="280" idx="3"/>
          </p:cNvCxnSpPr>
          <p:nvPr/>
        </p:nvCxnSpPr>
        <p:spPr>
          <a:xfrm rot="10800000">
            <a:off x="6466685" y="3543800"/>
            <a:ext cx="1620600" cy="882600"/>
          </a:xfrm>
          <a:prstGeom prst="straightConnector1">
            <a:avLst/>
          </a:prstGeom>
          <a:noFill/>
          <a:ln cap="flat" cmpd="sng" w="19050">
            <a:solidFill>
              <a:schemeClr val="dk2"/>
            </a:solidFill>
            <a:prstDash val="dot"/>
            <a:round/>
            <a:headEnd len="med" w="med" type="none"/>
            <a:tailEnd len="med" w="med" type="triangle"/>
          </a:ln>
        </p:spPr>
      </p:cxnSp>
      <p:cxnSp>
        <p:nvCxnSpPr>
          <p:cNvPr id="305" name="Google Shape;305;p24"/>
          <p:cNvCxnSpPr>
            <a:stCxn id="298" idx="0"/>
            <a:endCxn id="279" idx="2"/>
          </p:cNvCxnSpPr>
          <p:nvPr/>
        </p:nvCxnSpPr>
        <p:spPr>
          <a:xfrm rot="10800000">
            <a:off x="8132250" y="3608850"/>
            <a:ext cx="1939500" cy="998400"/>
          </a:xfrm>
          <a:prstGeom prst="straightConnector1">
            <a:avLst/>
          </a:prstGeom>
          <a:noFill/>
          <a:ln cap="flat" cmpd="sng" w="19050">
            <a:solidFill>
              <a:schemeClr val="dk2"/>
            </a:solidFill>
            <a:prstDash val="dot"/>
            <a:round/>
            <a:headEnd len="med" w="med" type="none"/>
            <a:tailEnd len="med" w="med" type="triangle"/>
          </a:ln>
        </p:spPr>
      </p:cxnSp>
      <p:cxnSp>
        <p:nvCxnSpPr>
          <p:cNvPr id="306" name="Google Shape;306;p24"/>
          <p:cNvCxnSpPr>
            <a:stCxn id="297" idx="1"/>
            <a:endCxn id="277" idx="3"/>
          </p:cNvCxnSpPr>
          <p:nvPr/>
        </p:nvCxnSpPr>
        <p:spPr>
          <a:xfrm rot="10800000">
            <a:off x="8662525" y="2851523"/>
            <a:ext cx="849900" cy="942300"/>
          </a:xfrm>
          <a:prstGeom prst="straightConnector1">
            <a:avLst/>
          </a:prstGeom>
          <a:noFill/>
          <a:ln cap="flat" cmpd="sng" w="19050">
            <a:solidFill>
              <a:schemeClr val="dk2"/>
            </a:solidFill>
            <a:prstDash val="dot"/>
            <a:round/>
            <a:headEnd len="med" w="med" type="none"/>
            <a:tailEnd len="med" w="med" type="triangle"/>
          </a:ln>
        </p:spPr>
      </p:cxnSp>
      <p:cxnSp>
        <p:nvCxnSpPr>
          <p:cNvPr id="307" name="Google Shape;307;p24"/>
          <p:cNvCxnSpPr>
            <a:stCxn id="296" idx="1"/>
          </p:cNvCxnSpPr>
          <p:nvPr/>
        </p:nvCxnSpPr>
        <p:spPr>
          <a:xfrm rot="10800000">
            <a:off x="8849125" y="2164550"/>
            <a:ext cx="538800" cy="288900"/>
          </a:xfrm>
          <a:prstGeom prst="straightConnector1">
            <a:avLst/>
          </a:prstGeom>
          <a:noFill/>
          <a:ln cap="flat" cmpd="sng" w="19050">
            <a:solidFill>
              <a:schemeClr val="dk2"/>
            </a:solidFill>
            <a:prstDash val="dot"/>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pic>
        <p:nvPicPr>
          <p:cNvPr id="312" name="Google Shape;312;p25"/>
          <p:cNvPicPr preferRelativeResize="0"/>
          <p:nvPr/>
        </p:nvPicPr>
        <p:blipFill rotWithShape="1">
          <a:blip r:embed="rId3">
            <a:alphaModFix/>
          </a:blip>
          <a:srcRect b="0" l="387" r="387" t="0"/>
          <a:stretch/>
        </p:blipFill>
        <p:spPr>
          <a:xfrm>
            <a:off x="0" y="0"/>
            <a:ext cx="12192000" cy="6858000"/>
          </a:xfrm>
          <a:prstGeom prst="rect">
            <a:avLst/>
          </a:prstGeom>
          <a:noFill/>
          <a:ln>
            <a:noFill/>
          </a:ln>
        </p:spPr>
      </p:pic>
      <p:sp>
        <p:nvSpPr>
          <p:cNvPr id="313" name="Google Shape;313;p25"/>
          <p:cNvSpPr/>
          <p:nvPr/>
        </p:nvSpPr>
        <p:spPr>
          <a:xfrm>
            <a:off x="552450" y="1143000"/>
            <a:ext cx="11087100" cy="4572000"/>
          </a:xfrm>
          <a:prstGeom prst="roundRect">
            <a:avLst>
              <a:gd fmla="val 4166" name="adj"/>
            </a:avLst>
          </a:prstGeom>
          <a:solidFill>
            <a:srgbClr val="0F172A">
              <a:alpha val="85000"/>
            </a:srgbClr>
          </a:solidFill>
          <a:ln cap="flat" cmpd="sng" w="1905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14" name="Google Shape;314;p25"/>
          <p:cNvCxnSpPr/>
          <p:nvPr/>
        </p:nvCxnSpPr>
        <p:spPr>
          <a:xfrm>
            <a:off x="1143000" y="3429000"/>
            <a:ext cx="1905000" cy="0"/>
          </a:xfrm>
          <a:prstGeom prst="straightConnector1">
            <a:avLst/>
          </a:prstGeom>
          <a:solidFill>
            <a:srgbClr val="FFFFFF"/>
          </a:solidFill>
          <a:ln cap="flat" cmpd="sng" w="57150">
            <a:solidFill>
              <a:srgbClr val="D97706"/>
            </a:solidFill>
            <a:prstDash val="solid"/>
            <a:round/>
            <a:headEnd len="sm" w="sm" type="none"/>
            <a:tailEnd len="sm" w="sm" type="none"/>
          </a:ln>
        </p:spPr>
      </p:cxnSp>
      <p:sp>
        <p:nvSpPr>
          <p:cNvPr id="315" name="Google Shape;315;p25"/>
          <p:cNvSpPr txBox="1"/>
          <p:nvPr/>
        </p:nvSpPr>
        <p:spPr>
          <a:xfrm>
            <a:off x="1143000" y="2286000"/>
            <a:ext cx="9906000" cy="304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D97706"/>
                </a:solidFill>
                <a:latin typeface="Georgia"/>
                <a:ea typeface="Georgia"/>
                <a:cs typeface="Georgia"/>
                <a:sym typeface="Georgia"/>
              </a:rPr>
              <a:t>CAPÍTULO 5</a:t>
            </a:r>
            <a:endParaRPr b="1" sz="1600">
              <a:solidFill>
                <a:srgbClr val="D97706"/>
              </a:solidFill>
              <a:latin typeface="Georgia"/>
              <a:ea typeface="Georgia"/>
              <a:cs typeface="Georgia"/>
              <a:sym typeface="Georgia"/>
            </a:endParaRPr>
          </a:p>
          <a:p>
            <a:pPr indent="0" lvl="0" marL="0" rtl="0" algn="l">
              <a:spcBef>
                <a:spcPts val="1125"/>
              </a:spcBef>
              <a:spcAft>
                <a:spcPts val="0"/>
              </a:spcAft>
              <a:buNone/>
            </a:pPr>
            <a:r>
              <a:rPr b="1" lang="en-US" sz="4200">
                <a:solidFill>
                  <a:srgbClr val="F1F5F9"/>
                </a:solidFill>
                <a:latin typeface="Georgia"/>
                <a:ea typeface="Georgia"/>
                <a:cs typeface="Georgia"/>
                <a:sym typeface="Georgia"/>
              </a:rPr>
              <a:t>Avaliação ATAM</a:t>
            </a:r>
            <a:r>
              <a:rPr b="1" lang="en-US" sz="4200">
                <a:solidFill>
                  <a:srgbClr val="F1F5F9"/>
                </a:solidFill>
                <a:latin typeface="Georgia"/>
                <a:ea typeface="Georgia"/>
                <a:cs typeface="Georgia"/>
                <a:sym typeface="Georgia"/>
              </a:rPr>
              <a:t> </a:t>
            </a:r>
            <a:endParaRPr b="1" sz="4200">
              <a:solidFill>
                <a:srgbClr val="F1F5F9"/>
              </a:solidFill>
              <a:latin typeface="Georgia"/>
              <a:ea typeface="Georgia"/>
              <a:cs typeface="Georgia"/>
              <a:sym typeface="Georgia"/>
            </a:endParaRPr>
          </a:p>
          <a:p>
            <a:pPr indent="0" lvl="0" marL="0" rtl="0" algn="l">
              <a:spcBef>
                <a:spcPts val="1500"/>
              </a:spcBef>
              <a:spcAft>
                <a:spcPts val="0"/>
              </a:spcAft>
              <a:buNone/>
            </a:pPr>
            <a:r>
              <a:rPr lang="en-US" sz="1800">
                <a:solidFill>
                  <a:srgbClr val="94A3B8"/>
                </a:solidFill>
              </a:rPr>
              <a:t>Atributos de Qualidade</a:t>
            </a:r>
            <a:endParaRPr b="0" sz="1800">
              <a:solidFill>
                <a:srgbClr val="94A3B8"/>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0" name="Shape 320"/>
        <p:cNvGrpSpPr/>
        <p:nvPr/>
      </p:nvGrpSpPr>
      <p:grpSpPr>
        <a:xfrm>
          <a:off x="0" y="0"/>
          <a:ext cx="0" cy="0"/>
          <a:chOff x="0" y="0"/>
          <a:chExt cx="0" cy="0"/>
        </a:xfrm>
      </p:grpSpPr>
      <p:sp>
        <p:nvSpPr>
          <p:cNvPr id="321" name="Google Shape;321;p26"/>
          <p:cNvSpPr/>
          <p:nvPr/>
        </p:nvSpPr>
        <p:spPr>
          <a:xfrm>
            <a:off x="548640" y="209550"/>
            <a:ext cx="11094300" cy="1162200"/>
          </a:xfrm>
          <a:prstGeom prst="roundRect">
            <a:avLst>
              <a:gd fmla="val 9836" name="adj"/>
            </a:avLst>
          </a:prstGeom>
          <a:solidFill>
            <a:srgbClr val="FCFCFC"/>
          </a:solidFill>
          <a:ln cap="flat" cmpd="sng" w="14300">
            <a:solidFill>
              <a:srgbClr val="F9F9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2" name="Google Shape;322;p26"/>
          <p:cNvSpPr txBox="1"/>
          <p:nvPr/>
        </p:nvSpPr>
        <p:spPr>
          <a:xfrm>
            <a:off x="548640" y="254800"/>
            <a:ext cx="11094300" cy="184800"/>
          </a:xfrm>
          <a:prstGeom prst="rect">
            <a:avLst/>
          </a:prstGeom>
          <a:solidFill>
            <a:srgbClr val="000000">
              <a:alpha val="0"/>
            </a:srgbClr>
          </a:solidFill>
          <a:ln>
            <a:noFill/>
          </a:ln>
        </p:spPr>
        <p:txBody>
          <a:bodyPr anchorCtr="0" anchor="t" bIns="0" lIns="142875" spcFirstLastPara="1" rIns="0" wrap="square" tIns="0">
            <a:spAutoFit/>
          </a:bodyPr>
          <a:lstStyle/>
          <a:p>
            <a:pPr indent="0" lvl="0" marL="0" rtl="0" algn="l">
              <a:spcBef>
                <a:spcPts val="0"/>
              </a:spcBef>
              <a:spcAft>
                <a:spcPts val="0"/>
              </a:spcAft>
              <a:buNone/>
            </a:pPr>
            <a:r>
              <a:rPr b="1" lang="en-US" sz="1200">
                <a:solidFill>
                  <a:srgbClr val="D97706"/>
                </a:solidFill>
              </a:rPr>
              <a:t>AVALIAÇÃO ATAM (RNF04)</a:t>
            </a:r>
            <a:endParaRPr b="1" sz="1200">
              <a:solidFill>
                <a:srgbClr val="D97706"/>
              </a:solidFill>
              <a:latin typeface="Arial"/>
              <a:ea typeface="Arial"/>
              <a:cs typeface="Arial"/>
              <a:sym typeface="Arial"/>
            </a:endParaRPr>
          </a:p>
        </p:txBody>
      </p:sp>
      <p:sp>
        <p:nvSpPr>
          <p:cNvPr id="323" name="Google Shape;323;p26"/>
          <p:cNvSpPr txBox="1"/>
          <p:nvPr/>
        </p:nvSpPr>
        <p:spPr>
          <a:xfrm>
            <a:off x="548640" y="476250"/>
            <a:ext cx="11094300" cy="738900"/>
          </a:xfrm>
          <a:prstGeom prst="rect">
            <a:avLst/>
          </a:prstGeom>
          <a:solidFill>
            <a:srgbClr val="000000">
              <a:alpha val="0"/>
            </a:srgbClr>
          </a:solidFill>
          <a:ln>
            <a:noFill/>
          </a:ln>
        </p:spPr>
        <p:txBody>
          <a:bodyPr anchorCtr="0" anchor="ctr" bIns="0" lIns="142875" spcFirstLastPara="1" rIns="142875" wrap="square" tIns="0">
            <a:spAutoFit/>
          </a:bodyPr>
          <a:lstStyle/>
          <a:p>
            <a:pPr indent="0" lvl="0" marL="0" rtl="0" algn="l">
              <a:spcBef>
                <a:spcPts val="0"/>
              </a:spcBef>
              <a:spcAft>
                <a:spcPts val="0"/>
              </a:spcAft>
              <a:buClr>
                <a:schemeClr val="dk1"/>
              </a:buClr>
              <a:buFont typeface="Arial"/>
              <a:buNone/>
            </a:pPr>
            <a:r>
              <a:rPr b="1" lang="en-US" sz="2400">
                <a:solidFill>
                  <a:srgbClr val="1E293B"/>
                </a:solidFill>
                <a:latin typeface="Georgia"/>
                <a:ea typeface="Georgia"/>
                <a:cs typeface="Georgia"/>
                <a:sym typeface="Georgia"/>
              </a:rPr>
              <a:t>Gestão do Raciocínio </a:t>
            </a:r>
            <a:endParaRPr b="1" sz="2400">
              <a:solidFill>
                <a:srgbClr val="1E293B"/>
              </a:solidFill>
              <a:latin typeface="Georgia"/>
              <a:ea typeface="Georgia"/>
              <a:cs typeface="Georgia"/>
              <a:sym typeface="Georgia"/>
            </a:endParaRPr>
          </a:p>
          <a:p>
            <a:pPr indent="0" lvl="0" marL="0" rtl="0" algn="l">
              <a:spcBef>
                <a:spcPts val="0"/>
              </a:spcBef>
              <a:spcAft>
                <a:spcPts val="0"/>
              </a:spcAft>
              <a:buClr>
                <a:schemeClr val="dk1"/>
              </a:buClr>
              <a:buFont typeface="Arial"/>
              <a:buNone/>
            </a:pPr>
            <a:r>
              <a:rPr b="1" lang="en-US" sz="2400">
                <a:solidFill>
                  <a:srgbClr val="1E293B"/>
                </a:solidFill>
                <a:latin typeface="Georgia"/>
                <a:ea typeface="Georgia"/>
                <a:cs typeface="Georgia"/>
                <a:sym typeface="Georgia"/>
              </a:rPr>
              <a:t>IA</a:t>
            </a:r>
            <a:endParaRPr b="1" sz="2400">
              <a:solidFill>
                <a:srgbClr val="1E293B"/>
              </a:solidFill>
              <a:latin typeface="Georgia"/>
              <a:ea typeface="Georgia"/>
              <a:cs typeface="Georgia"/>
              <a:sym typeface="Georgia"/>
            </a:endParaRPr>
          </a:p>
        </p:txBody>
      </p:sp>
      <p:sp>
        <p:nvSpPr>
          <p:cNvPr id="324" name="Google Shape;324;p26"/>
          <p:cNvSpPr/>
          <p:nvPr/>
        </p:nvSpPr>
        <p:spPr>
          <a:xfrm>
            <a:off x="691515" y="1257300"/>
            <a:ext cx="10808700" cy="19200"/>
          </a:xfrm>
          <a:prstGeom prst="rect">
            <a:avLst/>
          </a:prstGeom>
          <a:solidFill>
            <a:srgbClr val="D97706"/>
          </a:solidFill>
          <a:ln>
            <a:noFill/>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5" name="Google Shape;325;p26"/>
          <p:cNvSpPr/>
          <p:nvPr/>
        </p:nvSpPr>
        <p:spPr>
          <a:xfrm>
            <a:off x="548637" y="1587027"/>
            <a:ext cx="11094300" cy="4887300"/>
          </a:xfrm>
          <a:prstGeom prst="roundRect">
            <a:avLst>
              <a:gd fmla="val 5860" name="adj"/>
            </a:avLst>
          </a:prstGeom>
          <a:solidFill>
            <a:srgbClr val="FFFFFF">
              <a:alpha val="90000"/>
            </a:srgbClr>
          </a:solidFill>
          <a:ln>
            <a:noFill/>
          </a:ln>
          <a:effectLst>
            <a:outerShdw blurRad="150000" dir="5400000" dist="30000">
              <a:srgbClr val="000000">
                <a:alpha val="14900"/>
              </a:srgbClr>
            </a:outerShdw>
          </a:effectLst>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6" name="Google Shape;326;p26"/>
          <p:cNvSpPr/>
          <p:nvPr/>
        </p:nvSpPr>
        <p:spPr>
          <a:xfrm>
            <a:off x="912865" y="1892647"/>
            <a:ext cx="10336500" cy="992400"/>
          </a:xfrm>
          <a:prstGeom prst="rect">
            <a:avLst/>
          </a:prstGeom>
          <a:solidFill>
            <a:schemeClr val="l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1800">
                <a:solidFill>
                  <a:schemeClr val="dk1"/>
                </a:solidFill>
              </a:rPr>
              <a:t>O Cenário de Tensão:</a:t>
            </a:r>
            <a:r>
              <a:rPr lang="en-US" sz="1800">
                <a:solidFill>
                  <a:schemeClr val="dk1"/>
                </a:solidFill>
              </a:rPr>
              <a:t> Pico de 50 pedidos concorrentes. Necessidade de resposta &lt;10 min (p95). Chain-of-thought longo aumenta a precisão, mas inflaciona custo e latência do fornecedor LLM.</a:t>
            </a:r>
            <a:endParaRPr b="1" sz="1800">
              <a:solidFill>
                <a:srgbClr val="434343"/>
              </a:solidFill>
              <a:latin typeface="Calibri"/>
              <a:ea typeface="Calibri"/>
              <a:cs typeface="Calibri"/>
              <a:sym typeface="Calibri"/>
            </a:endParaRPr>
          </a:p>
        </p:txBody>
      </p:sp>
      <p:sp>
        <p:nvSpPr>
          <p:cNvPr id="327" name="Google Shape;327;p26"/>
          <p:cNvSpPr/>
          <p:nvPr/>
        </p:nvSpPr>
        <p:spPr>
          <a:xfrm>
            <a:off x="1457709" y="3725224"/>
            <a:ext cx="2120400" cy="1899300"/>
          </a:xfrm>
          <a:prstGeom prst="triangle">
            <a:avLst>
              <a:gd fmla="val 50000" name="adj"/>
            </a:avLst>
          </a:prstGeom>
          <a:solidFill>
            <a:schemeClr val="l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28" name="Google Shape;328;p26"/>
          <p:cNvSpPr txBox="1"/>
          <p:nvPr/>
        </p:nvSpPr>
        <p:spPr>
          <a:xfrm>
            <a:off x="1693291" y="3200825"/>
            <a:ext cx="1722600" cy="42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700">
                <a:solidFill>
                  <a:schemeClr val="dk1"/>
                </a:solidFill>
                <a:latin typeface="Calibri"/>
                <a:ea typeface="Calibri"/>
                <a:cs typeface="Calibri"/>
                <a:sym typeface="Calibri"/>
              </a:rPr>
              <a:t>Custo (Tokens)</a:t>
            </a:r>
            <a:endParaRPr b="1" sz="1700">
              <a:solidFill>
                <a:schemeClr val="dk1"/>
              </a:solidFill>
              <a:latin typeface="Calibri"/>
              <a:ea typeface="Calibri"/>
              <a:cs typeface="Calibri"/>
              <a:sym typeface="Calibri"/>
            </a:endParaRPr>
          </a:p>
        </p:txBody>
      </p:sp>
      <p:sp>
        <p:nvSpPr>
          <p:cNvPr id="329" name="Google Shape;329;p26"/>
          <p:cNvSpPr txBox="1"/>
          <p:nvPr/>
        </p:nvSpPr>
        <p:spPr>
          <a:xfrm>
            <a:off x="781375" y="5613400"/>
            <a:ext cx="1224300" cy="42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700">
                <a:solidFill>
                  <a:schemeClr val="dk1"/>
                </a:solidFill>
                <a:latin typeface="Calibri"/>
                <a:ea typeface="Calibri"/>
                <a:cs typeface="Calibri"/>
                <a:sym typeface="Calibri"/>
              </a:rPr>
              <a:t>Latência</a:t>
            </a:r>
            <a:endParaRPr b="1" sz="1600">
              <a:solidFill>
                <a:srgbClr val="274E13"/>
              </a:solidFill>
              <a:latin typeface="Calibri"/>
              <a:ea typeface="Calibri"/>
              <a:cs typeface="Calibri"/>
              <a:sym typeface="Calibri"/>
            </a:endParaRPr>
          </a:p>
        </p:txBody>
      </p:sp>
      <p:sp>
        <p:nvSpPr>
          <p:cNvPr id="330" name="Google Shape;330;p26"/>
          <p:cNvSpPr txBox="1"/>
          <p:nvPr/>
        </p:nvSpPr>
        <p:spPr>
          <a:xfrm>
            <a:off x="2583000" y="5552050"/>
            <a:ext cx="20025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700">
                <a:solidFill>
                  <a:schemeClr val="dk1"/>
                </a:solidFill>
                <a:latin typeface="Calibri"/>
                <a:ea typeface="Calibri"/>
                <a:cs typeface="Calibri"/>
                <a:sym typeface="Calibri"/>
              </a:rPr>
              <a:t>Qualidade de Raciocínio</a:t>
            </a:r>
            <a:endParaRPr b="1" sz="1700">
              <a:solidFill>
                <a:schemeClr val="dk1"/>
              </a:solidFill>
              <a:latin typeface="Calibri"/>
              <a:ea typeface="Calibri"/>
              <a:cs typeface="Calibri"/>
              <a:sym typeface="Calibri"/>
            </a:endParaRPr>
          </a:p>
        </p:txBody>
      </p:sp>
      <p:sp>
        <p:nvSpPr>
          <p:cNvPr id="331" name="Google Shape;331;p26"/>
          <p:cNvSpPr/>
          <p:nvPr/>
        </p:nvSpPr>
        <p:spPr>
          <a:xfrm>
            <a:off x="5097391" y="3126269"/>
            <a:ext cx="5895300" cy="787500"/>
          </a:xfrm>
          <a:prstGeom prst="roundRect">
            <a:avLst>
              <a:gd fmla="val 933" name="adj"/>
            </a:avLst>
          </a:prstGeom>
          <a:solidFill>
            <a:srgbClr val="D9D9D9"/>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32" name="Google Shape;332;p26"/>
          <p:cNvSpPr/>
          <p:nvPr/>
        </p:nvSpPr>
        <p:spPr>
          <a:xfrm>
            <a:off x="4962075" y="3038943"/>
            <a:ext cx="5955300" cy="787500"/>
          </a:xfrm>
          <a:prstGeom prst="roundRect">
            <a:avLst>
              <a:gd fmla="val 1994" name="adj"/>
            </a:avLst>
          </a:prstGeom>
          <a:solidFill>
            <a:srgbClr val="F3F3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sz="1600">
              <a:latin typeface="Calibri"/>
              <a:ea typeface="Calibri"/>
              <a:cs typeface="Calibri"/>
              <a:sym typeface="Calibri"/>
            </a:endParaRPr>
          </a:p>
          <a:p>
            <a:pPr indent="0" lvl="0" marL="0" rtl="0" algn="l">
              <a:spcBef>
                <a:spcPts val="0"/>
              </a:spcBef>
              <a:spcAft>
                <a:spcPts val="0"/>
              </a:spcAft>
              <a:buNone/>
            </a:pPr>
            <a:r>
              <a:rPr b="1" lang="en-US" sz="1600">
                <a:latin typeface="Calibri"/>
                <a:ea typeface="Calibri"/>
                <a:cs typeface="Calibri"/>
                <a:sym typeface="Calibri"/>
              </a:rPr>
              <a:t>Nivelamento de Modelos (Model Tiering - Adapter): </a:t>
            </a:r>
            <a:r>
              <a:rPr lang="en-US" sz="1600">
                <a:latin typeface="Calibri"/>
                <a:ea typeface="Calibri"/>
                <a:cs typeface="Calibri"/>
                <a:sym typeface="Calibri"/>
              </a:rPr>
              <a:t>Modelos rápidos/baratos para extração inicial; modelos complexos exclusivos para a consolidação do parecer.</a:t>
            </a:r>
            <a:endParaRPr sz="1600">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333" name="Google Shape;333;p26"/>
          <p:cNvSpPr/>
          <p:nvPr/>
        </p:nvSpPr>
        <p:spPr>
          <a:xfrm>
            <a:off x="5099450" y="4150974"/>
            <a:ext cx="5895300" cy="1059900"/>
          </a:xfrm>
          <a:prstGeom prst="roundRect">
            <a:avLst>
              <a:gd fmla="val 933" name="adj"/>
            </a:avLst>
          </a:prstGeom>
          <a:solidFill>
            <a:srgbClr val="D9D9D9"/>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34" name="Google Shape;334;p26"/>
          <p:cNvSpPr/>
          <p:nvPr/>
        </p:nvSpPr>
        <p:spPr>
          <a:xfrm>
            <a:off x="4962075" y="4065700"/>
            <a:ext cx="5955300" cy="1059900"/>
          </a:xfrm>
          <a:prstGeom prst="roundRect">
            <a:avLst>
              <a:gd fmla="val 1994" name="adj"/>
            </a:avLst>
          </a:prstGeom>
          <a:solidFill>
            <a:srgbClr val="D9EAD3"/>
          </a:solidFill>
          <a:ln cap="flat" cmpd="sng" w="1905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solidFill>
                <a:schemeClr val="dk1"/>
              </a:solidFill>
              <a:latin typeface="Calibri"/>
              <a:ea typeface="Calibri"/>
              <a:cs typeface="Calibri"/>
              <a:sym typeface="Calibri"/>
            </a:endParaRPr>
          </a:p>
          <a:p>
            <a:pPr indent="0" lvl="0" marL="0" rtl="0" algn="l">
              <a:spcBef>
                <a:spcPts val="0"/>
              </a:spcBef>
              <a:spcAft>
                <a:spcPts val="0"/>
              </a:spcAft>
              <a:buNone/>
            </a:pPr>
            <a:r>
              <a:t/>
            </a:r>
            <a:endParaRPr b="1" sz="1600">
              <a:solidFill>
                <a:schemeClr val="dk1"/>
              </a:solidFill>
              <a:latin typeface="Calibri"/>
              <a:ea typeface="Calibri"/>
              <a:cs typeface="Calibri"/>
              <a:sym typeface="Calibri"/>
            </a:endParaRPr>
          </a:p>
          <a:p>
            <a:pPr indent="0" lvl="0" marL="0" rtl="0" algn="l">
              <a:spcBef>
                <a:spcPts val="0"/>
              </a:spcBef>
              <a:spcAft>
                <a:spcPts val="0"/>
              </a:spcAft>
              <a:buNone/>
            </a:pPr>
            <a:r>
              <a:t/>
            </a:r>
            <a:endParaRPr b="1" sz="16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1600">
                <a:solidFill>
                  <a:schemeClr val="dk1"/>
                </a:solidFill>
                <a:latin typeface="Calibri"/>
                <a:ea typeface="Calibri"/>
                <a:cs typeface="Calibri"/>
                <a:sym typeface="Calibri"/>
              </a:rPr>
              <a:t>Caching (Redis): </a:t>
            </a:r>
            <a:r>
              <a:rPr lang="en-US" sz="1600">
                <a:solidFill>
                  <a:schemeClr val="dk1"/>
                </a:solidFill>
                <a:latin typeface="Calibri"/>
                <a:ea typeface="Calibri"/>
                <a:cs typeface="Calibri"/>
                <a:sym typeface="Calibri"/>
              </a:rPr>
              <a:t>Evita reconsultar o BigQuery para dados de apólice/sinistro já lidos no mesmo fluxo — reduz latência e carga no backend sob concorrência (não reduz tokens enviados ao LLM).</a:t>
            </a:r>
            <a:endParaRPr b="1" sz="1600">
              <a:latin typeface="Calibri"/>
              <a:ea typeface="Calibri"/>
              <a:cs typeface="Calibri"/>
              <a:sym typeface="Calibri"/>
            </a:endParaRPr>
          </a:p>
          <a:p>
            <a:pPr indent="0" lvl="0" marL="0" rtl="0" algn="l">
              <a:spcBef>
                <a:spcPts val="0"/>
              </a:spcBef>
              <a:spcAft>
                <a:spcPts val="0"/>
              </a:spcAft>
              <a:buNone/>
            </a:pPr>
            <a:r>
              <a:t/>
            </a:r>
            <a:endParaRPr b="1" sz="1600">
              <a:latin typeface="Calibri"/>
              <a:ea typeface="Calibri"/>
              <a:cs typeface="Calibri"/>
              <a:sym typeface="Calibri"/>
            </a:endParaRPr>
          </a:p>
          <a:p>
            <a:pPr indent="0" lvl="0" marL="0" rtl="0" algn="l">
              <a:spcBef>
                <a:spcPts val="0"/>
              </a:spcBef>
              <a:spcAft>
                <a:spcPts val="0"/>
              </a:spcAft>
              <a:buNone/>
            </a:pPr>
            <a:r>
              <a:t/>
            </a:r>
            <a:endParaRPr b="1" sz="1600">
              <a:latin typeface="Calibri"/>
              <a:ea typeface="Calibri"/>
              <a:cs typeface="Calibri"/>
              <a:sym typeface="Calibri"/>
            </a:endParaRPr>
          </a:p>
          <a:p>
            <a:pPr indent="0" lvl="0" marL="0" rtl="0" algn="l">
              <a:spcBef>
                <a:spcPts val="0"/>
              </a:spcBef>
              <a:spcAft>
                <a:spcPts val="0"/>
              </a:spcAft>
              <a:buNone/>
            </a:pPr>
            <a:r>
              <a:t/>
            </a:r>
            <a:endParaRPr sz="1600">
              <a:latin typeface="Calibri"/>
              <a:ea typeface="Calibri"/>
              <a:cs typeface="Calibri"/>
              <a:sym typeface="Calibri"/>
            </a:endParaRPr>
          </a:p>
        </p:txBody>
      </p:sp>
      <p:sp>
        <p:nvSpPr>
          <p:cNvPr id="335" name="Google Shape;335;p26"/>
          <p:cNvSpPr/>
          <p:nvPr/>
        </p:nvSpPr>
        <p:spPr>
          <a:xfrm>
            <a:off x="5162822" y="5451604"/>
            <a:ext cx="5895300" cy="787500"/>
          </a:xfrm>
          <a:prstGeom prst="roundRect">
            <a:avLst>
              <a:gd fmla="val 933" name="adj"/>
            </a:avLst>
          </a:prstGeom>
          <a:solidFill>
            <a:srgbClr val="D9D9D9"/>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36" name="Google Shape;336;p26"/>
          <p:cNvSpPr/>
          <p:nvPr/>
        </p:nvSpPr>
        <p:spPr>
          <a:xfrm>
            <a:off x="4962075" y="5340973"/>
            <a:ext cx="5955300" cy="787500"/>
          </a:xfrm>
          <a:prstGeom prst="roundRect">
            <a:avLst>
              <a:gd fmla="val 1994" name="adj"/>
            </a:avLst>
          </a:prstGeom>
          <a:solidFill>
            <a:srgbClr val="CFE2F3"/>
          </a:solidFill>
          <a:ln cap="flat" cmpd="sng" w="1905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1600">
                <a:solidFill>
                  <a:schemeClr val="dk1"/>
                </a:solidFill>
                <a:latin typeface="Calibri"/>
                <a:ea typeface="Calibri"/>
                <a:cs typeface="Calibri"/>
                <a:sym typeface="Calibri"/>
              </a:rPr>
              <a:t>Orçamento Dinâmico: </a:t>
            </a:r>
            <a:r>
              <a:rPr lang="en-US" sz="1600">
                <a:solidFill>
                  <a:schemeClr val="dk1"/>
                </a:solidFill>
                <a:latin typeface="Calibri"/>
                <a:ea typeface="Calibri"/>
                <a:cs typeface="Calibri"/>
                <a:sym typeface="Calibri"/>
              </a:rPr>
              <a:t>Teto de tokens por chamadas, </a:t>
            </a:r>
            <a:r>
              <a:rPr lang="en-US" sz="1600">
                <a:solidFill>
                  <a:schemeClr val="dk1"/>
                </a:solidFill>
                <a:latin typeface="Calibri"/>
                <a:ea typeface="Calibri"/>
                <a:cs typeface="Calibri"/>
                <a:sym typeface="Calibri"/>
              </a:rPr>
              <a:t>configurável</a:t>
            </a:r>
            <a:r>
              <a:rPr lang="en-US" sz="1600">
                <a:solidFill>
                  <a:schemeClr val="dk1"/>
                </a:solidFill>
                <a:latin typeface="Calibri"/>
                <a:ea typeface="Calibri"/>
                <a:cs typeface="Calibri"/>
                <a:sym typeface="Calibri"/>
              </a:rPr>
              <a:t> via Agent Console </a:t>
            </a:r>
            <a:r>
              <a:rPr lang="en-US" sz="1600">
                <a:solidFill>
                  <a:schemeClr val="dk1"/>
                </a:solidFill>
                <a:latin typeface="Calibri"/>
                <a:ea typeface="Calibri"/>
                <a:cs typeface="Calibri"/>
                <a:sym typeface="Calibri"/>
              </a:rPr>
              <a:t>— </a:t>
            </a:r>
            <a:r>
              <a:rPr lang="en-US" sz="1600">
                <a:solidFill>
                  <a:schemeClr val="dk1"/>
                </a:solidFill>
                <a:latin typeface="Calibri"/>
                <a:ea typeface="Calibri"/>
                <a:cs typeface="Calibri"/>
                <a:sym typeface="Calibri"/>
              </a:rPr>
              <a:t> sem necessidade de novo deploy.</a:t>
            </a:r>
            <a:endParaRPr sz="1600">
              <a:latin typeface="Calibri"/>
              <a:ea typeface="Calibri"/>
              <a:cs typeface="Calibri"/>
              <a:sym typeface="Calibri"/>
            </a:endParaRPr>
          </a:p>
          <a:p>
            <a:pPr indent="0" lvl="0" marL="0" rtl="0" algn="l">
              <a:spcBef>
                <a:spcPts val="0"/>
              </a:spcBef>
              <a:spcAft>
                <a:spcPts val="0"/>
              </a:spcAft>
              <a:buNone/>
            </a:pPr>
            <a:r>
              <a:t/>
            </a:r>
            <a:endParaRPr sz="1600">
              <a:latin typeface="Calibri"/>
              <a:ea typeface="Calibri"/>
              <a:cs typeface="Calibri"/>
              <a:sym typeface="Calibri"/>
            </a:endParaRPr>
          </a:p>
        </p:txBody>
      </p:sp>
      <p:cxnSp>
        <p:nvCxnSpPr>
          <p:cNvPr id="337" name="Google Shape;337;p26"/>
          <p:cNvCxnSpPr>
            <a:stCxn id="332" idx="1"/>
            <a:endCxn id="327" idx="0"/>
          </p:cNvCxnSpPr>
          <p:nvPr/>
        </p:nvCxnSpPr>
        <p:spPr>
          <a:xfrm flipH="1">
            <a:off x="2517975" y="3432693"/>
            <a:ext cx="2444100" cy="292500"/>
          </a:xfrm>
          <a:prstGeom prst="straightConnector1">
            <a:avLst/>
          </a:prstGeom>
          <a:noFill/>
          <a:ln cap="flat" cmpd="sng" w="19050">
            <a:solidFill>
              <a:schemeClr val="dk2"/>
            </a:solidFill>
            <a:prstDash val="solid"/>
            <a:round/>
            <a:headEnd len="med" w="med" type="none"/>
            <a:tailEnd len="med" w="med" type="triangle"/>
          </a:ln>
        </p:spPr>
      </p:cxnSp>
      <p:cxnSp>
        <p:nvCxnSpPr>
          <p:cNvPr id="338" name="Google Shape;338;p26"/>
          <p:cNvCxnSpPr>
            <a:stCxn id="334" idx="1"/>
          </p:cNvCxnSpPr>
          <p:nvPr/>
        </p:nvCxnSpPr>
        <p:spPr>
          <a:xfrm flipH="1">
            <a:off x="1626675" y="4595650"/>
            <a:ext cx="3335400" cy="842700"/>
          </a:xfrm>
          <a:prstGeom prst="straightConnector1">
            <a:avLst/>
          </a:prstGeom>
          <a:noFill/>
          <a:ln cap="flat" cmpd="sng" w="19050">
            <a:solidFill>
              <a:srgbClr val="38761D"/>
            </a:solidFill>
            <a:prstDash val="solid"/>
            <a:round/>
            <a:headEnd len="med" w="med" type="none"/>
            <a:tailEnd len="med" w="med" type="triangle"/>
          </a:ln>
        </p:spPr>
      </p:cxnSp>
      <p:cxnSp>
        <p:nvCxnSpPr>
          <p:cNvPr id="339" name="Google Shape;339;p26"/>
          <p:cNvCxnSpPr>
            <a:stCxn id="336" idx="1"/>
          </p:cNvCxnSpPr>
          <p:nvPr/>
        </p:nvCxnSpPr>
        <p:spPr>
          <a:xfrm rot="10800000">
            <a:off x="2307075" y="4196023"/>
            <a:ext cx="2655000" cy="1538700"/>
          </a:xfrm>
          <a:prstGeom prst="straightConnector1">
            <a:avLst/>
          </a:prstGeom>
          <a:noFill/>
          <a:ln cap="flat" cmpd="sng" w="19050">
            <a:solidFill>
              <a:srgbClr val="1155CC"/>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4" name="Shape 344"/>
        <p:cNvGrpSpPr/>
        <p:nvPr/>
      </p:nvGrpSpPr>
      <p:grpSpPr>
        <a:xfrm>
          <a:off x="0" y="0"/>
          <a:ext cx="0" cy="0"/>
          <a:chOff x="0" y="0"/>
          <a:chExt cx="0" cy="0"/>
        </a:xfrm>
      </p:grpSpPr>
      <p:sp>
        <p:nvSpPr>
          <p:cNvPr id="345" name="Google Shape;345;p27"/>
          <p:cNvSpPr/>
          <p:nvPr/>
        </p:nvSpPr>
        <p:spPr>
          <a:xfrm>
            <a:off x="548640" y="209550"/>
            <a:ext cx="11094300" cy="1162200"/>
          </a:xfrm>
          <a:prstGeom prst="roundRect">
            <a:avLst>
              <a:gd fmla="val 9836" name="adj"/>
            </a:avLst>
          </a:prstGeom>
          <a:solidFill>
            <a:srgbClr val="FCFCFC"/>
          </a:solidFill>
          <a:ln cap="flat" cmpd="sng" w="14300">
            <a:solidFill>
              <a:srgbClr val="F9F9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6" name="Google Shape;346;p27"/>
          <p:cNvSpPr txBox="1"/>
          <p:nvPr/>
        </p:nvSpPr>
        <p:spPr>
          <a:xfrm>
            <a:off x="548640" y="254800"/>
            <a:ext cx="11094300" cy="184800"/>
          </a:xfrm>
          <a:prstGeom prst="rect">
            <a:avLst/>
          </a:prstGeom>
          <a:solidFill>
            <a:srgbClr val="000000">
              <a:alpha val="0"/>
            </a:srgbClr>
          </a:solidFill>
          <a:ln>
            <a:noFill/>
          </a:ln>
        </p:spPr>
        <p:txBody>
          <a:bodyPr anchorCtr="0" anchor="t" bIns="0" lIns="142875" spcFirstLastPara="1" rIns="0" wrap="square" tIns="0">
            <a:spAutoFit/>
          </a:bodyPr>
          <a:lstStyle/>
          <a:p>
            <a:pPr indent="0" lvl="0" marL="0" rtl="0" algn="l">
              <a:spcBef>
                <a:spcPts val="0"/>
              </a:spcBef>
              <a:spcAft>
                <a:spcPts val="0"/>
              </a:spcAft>
              <a:buNone/>
            </a:pPr>
            <a:r>
              <a:rPr b="1" lang="en-US" sz="1200">
                <a:solidFill>
                  <a:srgbClr val="D97706"/>
                </a:solidFill>
              </a:rPr>
              <a:t>AVALIAÇÃO ATAM (RNF04)</a:t>
            </a:r>
            <a:endParaRPr b="1" sz="1200">
              <a:solidFill>
                <a:srgbClr val="D97706"/>
              </a:solidFill>
              <a:latin typeface="Arial"/>
              <a:ea typeface="Arial"/>
              <a:cs typeface="Arial"/>
              <a:sym typeface="Arial"/>
            </a:endParaRPr>
          </a:p>
        </p:txBody>
      </p:sp>
      <p:sp>
        <p:nvSpPr>
          <p:cNvPr id="347" name="Google Shape;347;p27"/>
          <p:cNvSpPr txBox="1"/>
          <p:nvPr/>
        </p:nvSpPr>
        <p:spPr>
          <a:xfrm>
            <a:off x="548625" y="594500"/>
            <a:ext cx="11094300" cy="507900"/>
          </a:xfrm>
          <a:prstGeom prst="rect">
            <a:avLst/>
          </a:prstGeom>
          <a:solidFill>
            <a:srgbClr val="000000">
              <a:alpha val="0"/>
            </a:srgbClr>
          </a:solidFill>
          <a:ln>
            <a:noFill/>
          </a:ln>
        </p:spPr>
        <p:txBody>
          <a:bodyPr anchorCtr="0" anchor="ctr" bIns="0" lIns="142875" spcFirstLastPara="1" rIns="142875" wrap="square" tIns="0">
            <a:spAutoFit/>
          </a:bodyPr>
          <a:lstStyle/>
          <a:p>
            <a:pPr indent="0" lvl="0" marL="0" rtl="0" algn="l">
              <a:spcBef>
                <a:spcPts val="0"/>
              </a:spcBef>
              <a:spcAft>
                <a:spcPts val="0"/>
              </a:spcAft>
              <a:buClr>
                <a:schemeClr val="dk1"/>
              </a:buClr>
              <a:buFont typeface="Arial"/>
              <a:buNone/>
            </a:pPr>
            <a:r>
              <a:rPr b="1" lang="en-US" sz="3300">
                <a:solidFill>
                  <a:srgbClr val="1E293B"/>
                </a:solidFill>
                <a:latin typeface="Georgia"/>
                <a:ea typeface="Georgia"/>
                <a:cs typeface="Georgia"/>
                <a:sym typeface="Georgia"/>
              </a:rPr>
              <a:t>Cenários Críticos</a:t>
            </a:r>
            <a:endParaRPr b="1" sz="3300">
              <a:solidFill>
                <a:srgbClr val="1E293B"/>
              </a:solidFill>
              <a:latin typeface="Georgia"/>
              <a:ea typeface="Georgia"/>
              <a:cs typeface="Georgia"/>
              <a:sym typeface="Georgia"/>
            </a:endParaRPr>
          </a:p>
        </p:txBody>
      </p:sp>
      <p:sp>
        <p:nvSpPr>
          <p:cNvPr id="348" name="Google Shape;348;p27"/>
          <p:cNvSpPr/>
          <p:nvPr/>
        </p:nvSpPr>
        <p:spPr>
          <a:xfrm>
            <a:off x="691515" y="1257300"/>
            <a:ext cx="10808700" cy="19200"/>
          </a:xfrm>
          <a:prstGeom prst="rect">
            <a:avLst/>
          </a:prstGeom>
          <a:solidFill>
            <a:srgbClr val="D97706"/>
          </a:solidFill>
          <a:ln>
            <a:noFill/>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9" name="Google Shape;349;p27"/>
          <p:cNvSpPr/>
          <p:nvPr/>
        </p:nvSpPr>
        <p:spPr>
          <a:xfrm>
            <a:off x="548637" y="1587027"/>
            <a:ext cx="11094300" cy="4887300"/>
          </a:xfrm>
          <a:prstGeom prst="roundRect">
            <a:avLst>
              <a:gd fmla="val 5860" name="adj"/>
            </a:avLst>
          </a:prstGeom>
          <a:solidFill>
            <a:srgbClr val="FFFFFF">
              <a:alpha val="90000"/>
            </a:srgbClr>
          </a:solidFill>
          <a:ln>
            <a:noFill/>
          </a:ln>
          <a:effectLst>
            <a:outerShdw blurRad="150000" dir="5400000" dist="30000">
              <a:srgbClr val="000000">
                <a:alpha val="14900"/>
              </a:srgbClr>
            </a:outerShdw>
          </a:effectLst>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0" name="Google Shape;350;p27"/>
          <p:cNvSpPr txBox="1"/>
          <p:nvPr/>
        </p:nvSpPr>
        <p:spPr>
          <a:xfrm>
            <a:off x="2583000" y="5552050"/>
            <a:ext cx="20025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700">
              <a:solidFill>
                <a:schemeClr val="dk1"/>
              </a:solidFill>
              <a:latin typeface="Calibri"/>
              <a:ea typeface="Calibri"/>
              <a:cs typeface="Calibri"/>
              <a:sym typeface="Calibri"/>
            </a:endParaRPr>
          </a:p>
        </p:txBody>
      </p:sp>
      <p:sp>
        <p:nvSpPr>
          <p:cNvPr id="351" name="Google Shape;351;p27"/>
          <p:cNvSpPr/>
          <p:nvPr/>
        </p:nvSpPr>
        <p:spPr>
          <a:xfrm>
            <a:off x="1230425" y="2039391"/>
            <a:ext cx="9827700" cy="1901100"/>
          </a:xfrm>
          <a:prstGeom prst="roundRect">
            <a:avLst>
              <a:gd fmla="val 0" name="adj"/>
            </a:avLst>
          </a:prstGeom>
          <a:solidFill>
            <a:srgbClr val="D9D9D9"/>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52" name="Google Shape;352;p27"/>
          <p:cNvSpPr/>
          <p:nvPr/>
        </p:nvSpPr>
        <p:spPr>
          <a:xfrm>
            <a:off x="1089600" y="1928881"/>
            <a:ext cx="9827700" cy="1901100"/>
          </a:xfrm>
          <a:prstGeom prst="roundRect">
            <a:avLst>
              <a:gd fmla="val 0" name="adj"/>
            </a:avLst>
          </a:prstGeom>
          <a:solidFill>
            <a:srgbClr val="FCFCF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353" name="Google Shape;353;p27"/>
          <p:cNvSpPr/>
          <p:nvPr/>
        </p:nvSpPr>
        <p:spPr>
          <a:xfrm>
            <a:off x="1252338" y="4304641"/>
            <a:ext cx="9827700" cy="1901100"/>
          </a:xfrm>
          <a:prstGeom prst="roundRect">
            <a:avLst>
              <a:gd fmla="val 0" name="adj"/>
            </a:avLst>
          </a:prstGeom>
          <a:solidFill>
            <a:srgbClr val="D9D9D9"/>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54" name="Google Shape;354;p27"/>
          <p:cNvSpPr/>
          <p:nvPr/>
        </p:nvSpPr>
        <p:spPr>
          <a:xfrm>
            <a:off x="1111513" y="4194131"/>
            <a:ext cx="9827700" cy="1901100"/>
          </a:xfrm>
          <a:prstGeom prst="roundRect">
            <a:avLst>
              <a:gd fmla="val 0" name="adj"/>
            </a:avLst>
          </a:prstGeom>
          <a:solidFill>
            <a:srgbClr val="FCFCF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500">
              <a:solidFill>
                <a:schemeClr val="dk1"/>
              </a:solidFill>
              <a:latin typeface="Calibri"/>
              <a:ea typeface="Calibri"/>
              <a:cs typeface="Calibri"/>
              <a:sym typeface="Calibri"/>
            </a:endParaRPr>
          </a:p>
          <a:p>
            <a:pPr indent="0" lvl="0" marL="0" rtl="0" algn="l">
              <a:spcBef>
                <a:spcPts val="0"/>
              </a:spcBef>
              <a:spcAft>
                <a:spcPts val="0"/>
              </a:spcAft>
              <a:buNone/>
            </a:pPr>
            <a:r>
              <a:t/>
            </a:r>
            <a:endParaRPr b="1" sz="1500">
              <a:solidFill>
                <a:schemeClr val="dk1"/>
              </a:solidFill>
              <a:latin typeface="Calibri"/>
              <a:ea typeface="Calibri"/>
              <a:cs typeface="Calibri"/>
              <a:sym typeface="Calibri"/>
            </a:endParaRPr>
          </a:p>
          <a:p>
            <a:pPr indent="0" lvl="0" marL="0" rtl="0" algn="l">
              <a:spcBef>
                <a:spcPts val="0"/>
              </a:spcBef>
              <a:spcAft>
                <a:spcPts val="0"/>
              </a:spcAft>
              <a:buNone/>
            </a:pPr>
            <a:r>
              <a:t/>
            </a:r>
            <a:endParaRPr b="1" sz="1600">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355" name="Google Shape;355;p27"/>
          <p:cNvSpPr txBox="1"/>
          <p:nvPr/>
        </p:nvSpPr>
        <p:spPr>
          <a:xfrm>
            <a:off x="1097907" y="1951055"/>
            <a:ext cx="3569700" cy="42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solidFill>
                  <a:schemeClr val="dk1"/>
                </a:solidFill>
                <a:latin typeface="Calibri"/>
                <a:ea typeface="Calibri"/>
                <a:cs typeface="Calibri"/>
                <a:sym typeface="Calibri"/>
              </a:rPr>
              <a:t>Captura Mobile Offline (Usabilidade)</a:t>
            </a:r>
            <a:endParaRPr b="1" sz="1700">
              <a:solidFill>
                <a:schemeClr val="dk1"/>
              </a:solidFill>
              <a:latin typeface="Calibri"/>
              <a:ea typeface="Calibri"/>
              <a:cs typeface="Calibri"/>
              <a:sym typeface="Calibri"/>
            </a:endParaRPr>
          </a:p>
        </p:txBody>
      </p:sp>
      <p:sp>
        <p:nvSpPr>
          <p:cNvPr id="356" name="Google Shape;356;p27"/>
          <p:cNvSpPr txBox="1"/>
          <p:nvPr/>
        </p:nvSpPr>
        <p:spPr>
          <a:xfrm>
            <a:off x="1127355" y="4201582"/>
            <a:ext cx="3569700" cy="42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solidFill>
                  <a:schemeClr val="dk1"/>
                </a:solidFill>
                <a:latin typeface="Calibri"/>
                <a:ea typeface="Calibri"/>
                <a:cs typeface="Calibri"/>
                <a:sym typeface="Calibri"/>
              </a:rPr>
              <a:t>Auditoria SUSEP (Rastreabilidade)</a:t>
            </a:r>
            <a:endParaRPr b="1" sz="1700">
              <a:solidFill>
                <a:schemeClr val="dk1"/>
              </a:solidFill>
              <a:latin typeface="Calibri"/>
              <a:ea typeface="Calibri"/>
              <a:cs typeface="Calibri"/>
              <a:sym typeface="Calibri"/>
            </a:endParaRPr>
          </a:p>
        </p:txBody>
      </p:sp>
      <p:pic>
        <p:nvPicPr>
          <p:cNvPr id="357" name="Google Shape;357;p27" title="search.png"/>
          <p:cNvPicPr preferRelativeResize="0"/>
          <p:nvPr/>
        </p:nvPicPr>
        <p:blipFill>
          <a:blip r:embed="rId4">
            <a:alphaModFix/>
          </a:blip>
          <a:stretch>
            <a:fillRect/>
          </a:stretch>
        </p:blipFill>
        <p:spPr>
          <a:xfrm>
            <a:off x="1408400" y="4830653"/>
            <a:ext cx="952050" cy="923200"/>
          </a:xfrm>
          <a:prstGeom prst="rect">
            <a:avLst/>
          </a:prstGeom>
          <a:solidFill>
            <a:srgbClr val="FCFCFC"/>
          </a:solidFill>
          <a:ln>
            <a:noFill/>
          </a:ln>
        </p:spPr>
      </p:pic>
      <p:pic>
        <p:nvPicPr>
          <p:cNvPr id="358" name="Google Shape;358;p27" title="phone.png"/>
          <p:cNvPicPr preferRelativeResize="0"/>
          <p:nvPr/>
        </p:nvPicPr>
        <p:blipFill>
          <a:blip r:embed="rId5">
            <a:alphaModFix/>
          </a:blip>
          <a:stretch>
            <a:fillRect/>
          </a:stretch>
        </p:blipFill>
        <p:spPr>
          <a:xfrm>
            <a:off x="1105100" y="2364050"/>
            <a:ext cx="1366450" cy="1366450"/>
          </a:xfrm>
          <a:prstGeom prst="rect">
            <a:avLst/>
          </a:prstGeom>
          <a:solidFill>
            <a:srgbClr val="FCFCFC"/>
          </a:solidFill>
          <a:ln>
            <a:noFill/>
          </a:ln>
        </p:spPr>
      </p:pic>
      <p:pic>
        <p:nvPicPr>
          <p:cNvPr id="359" name="Google Shape;359;p27" title="wifi_off.png"/>
          <p:cNvPicPr preferRelativeResize="0"/>
          <p:nvPr/>
        </p:nvPicPr>
        <p:blipFill>
          <a:blip r:embed="rId6">
            <a:alphaModFix/>
          </a:blip>
          <a:stretch>
            <a:fillRect/>
          </a:stretch>
        </p:blipFill>
        <p:spPr>
          <a:xfrm>
            <a:off x="1574851" y="2799412"/>
            <a:ext cx="426944" cy="426900"/>
          </a:xfrm>
          <a:prstGeom prst="rect">
            <a:avLst/>
          </a:prstGeom>
          <a:solidFill>
            <a:srgbClr val="FCFCFC"/>
          </a:solidFill>
          <a:ln>
            <a:noFill/>
          </a:ln>
        </p:spPr>
      </p:pic>
      <p:sp>
        <p:nvSpPr>
          <p:cNvPr id="360" name="Google Shape;360;p27"/>
          <p:cNvSpPr/>
          <p:nvPr/>
        </p:nvSpPr>
        <p:spPr>
          <a:xfrm>
            <a:off x="2360450" y="2377950"/>
            <a:ext cx="2305500" cy="1274400"/>
          </a:xfrm>
          <a:prstGeom prst="roundRect">
            <a:avLst>
              <a:gd fmla="val 1994" name="adj"/>
            </a:avLst>
          </a:prstGeom>
          <a:solidFill>
            <a:srgbClr val="FCFCF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rPr lang="en-US" sz="1500">
                <a:latin typeface="Calibri"/>
                <a:ea typeface="Calibri"/>
                <a:cs typeface="Calibri"/>
                <a:sym typeface="Calibri"/>
              </a:rPr>
              <a:t>Sinistros ocorrem em zonas sem conectividade.</a:t>
            </a:r>
            <a:endParaRPr sz="1500">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361" name="Google Shape;361;p27"/>
          <p:cNvSpPr/>
          <p:nvPr/>
        </p:nvSpPr>
        <p:spPr>
          <a:xfrm>
            <a:off x="4741493" y="3005050"/>
            <a:ext cx="367800" cy="180600"/>
          </a:xfrm>
          <a:prstGeom prst="rightArrow">
            <a:avLst>
              <a:gd fmla="val 50000" name="adj1"/>
              <a:gd fmla="val 5000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62" name="Google Shape;362;p27"/>
          <p:cNvSpPr/>
          <p:nvPr/>
        </p:nvSpPr>
        <p:spPr>
          <a:xfrm>
            <a:off x="2486750" y="2426700"/>
            <a:ext cx="2085300" cy="297300"/>
          </a:xfrm>
          <a:prstGeom prst="rect">
            <a:avLst/>
          </a:prstGeom>
          <a:solidFill>
            <a:srgbClr val="FCFCFC"/>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latin typeface="Calibri"/>
                <a:ea typeface="Calibri"/>
                <a:cs typeface="Calibri"/>
                <a:sym typeface="Calibri"/>
              </a:rPr>
              <a:t>O Problema:</a:t>
            </a:r>
            <a:endParaRPr b="1" sz="1600">
              <a:latin typeface="Calibri"/>
              <a:ea typeface="Calibri"/>
              <a:cs typeface="Calibri"/>
              <a:sym typeface="Calibri"/>
            </a:endParaRPr>
          </a:p>
        </p:txBody>
      </p:sp>
      <p:sp>
        <p:nvSpPr>
          <p:cNvPr id="363" name="Google Shape;363;p27"/>
          <p:cNvSpPr/>
          <p:nvPr/>
        </p:nvSpPr>
        <p:spPr>
          <a:xfrm>
            <a:off x="5148498" y="2377900"/>
            <a:ext cx="2601600" cy="1274400"/>
          </a:xfrm>
          <a:prstGeom prst="roundRect">
            <a:avLst>
              <a:gd fmla="val 1994" name="adj"/>
            </a:avLst>
          </a:prstGeom>
          <a:solidFill>
            <a:srgbClr val="FCFCF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rPr lang="en-US" sz="1500">
                <a:latin typeface="Calibri"/>
                <a:ea typeface="Calibri"/>
                <a:cs typeface="Calibri"/>
                <a:sym typeface="Calibri"/>
              </a:rPr>
              <a:t>Fila local persistente na App → Sincronização automática via upload retomável (URL pré-assinada).</a:t>
            </a:r>
            <a:endParaRPr sz="1500">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364" name="Google Shape;364;p27"/>
          <p:cNvSpPr/>
          <p:nvPr/>
        </p:nvSpPr>
        <p:spPr>
          <a:xfrm>
            <a:off x="5274800" y="2432975"/>
            <a:ext cx="2344800" cy="229200"/>
          </a:xfrm>
          <a:prstGeom prst="rect">
            <a:avLst/>
          </a:prstGeom>
          <a:solidFill>
            <a:srgbClr val="FCFCFC"/>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latin typeface="Calibri"/>
                <a:ea typeface="Calibri"/>
                <a:cs typeface="Calibri"/>
                <a:sym typeface="Calibri"/>
              </a:rPr>
              <a:t>O Mecanismo:</a:t>
            </a:r>
            <a:endParaRPr b="1" sz="1600">
              <a:latin typeface="Calibri"/>
              <a:ea typeface="Calibri"/>
              <a:cs typeface="Calibri"/>
              <a:sym typeface="Calibri"/>
            </a:endParaRPr>
          </a:p>
        </p:txBody>
      </p:sp>
      <p:sp>
        <p:nvSpPr>
          <p:cNvPr id="365" name="Google Shape;365;p27"/>
          <p:cNvSpPr/>
          <p:nvPr/>
        </p:nvSpPr>
        <p:spPr>
          <a:xfrm>
            <a:off x="8186825" y="2375650"/>
            <a:ext cx="2502900" cy="1274400"/>
          </a:xfrm>
          <a:prstGeom prst="roundRect">
            <a:avLst>
              <a:gd fmla="val 1994" name="adj"/>
            </a:avLst>
          </a:prstGeom>
          <a:solidFill>
            <a:srgbClr val="FCFCF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rPr lang="en-US" sz="1500">
                <a:latin typeface="Calibri"/>
                <a:ea typeface="Calibri"/>
                <a:cs typeface="Calibri"/>
                <a:sym typeface="Calibri"/>
              </a:rPr>
              <a:t>Chave de idempotência no cliente evita submissões duplicadas ao reconectar.</a:t>
            </a:r>
            <a:endParaRPr sz="1500">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366" name="Google Shape;366;p27"/>
          <p:cNvSpPr/>
          <p:nvPr/>
        </p:nvSpPr>
        <p:spPr>
          <a:xfrm>
            <a:off x="8313125" y="2430725"/>
            <a:ext cx="2229300" cy="229200"/>
          </a:xfrm>
          <a:prstGeom prst="rect">
            <a:avLst/>
          </a:prstGeom>
          <a:solidFill>
            <a:srgbClr val="FCFCFC"/>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latin typeface="Calibri"/>
                <a:ea typeface="Calibri"/>
                <a:cs typeface="Calibri"/>
                <a:sym typeface="Calibri"/>
              </a:rPr>
              <a:t>A Segurança:</a:t>
            </a:r>
            <a:endParaRPr b="1" sz="1600">
              <a:latin typeface="Calibri"/>
              <a:ea typeface="Calibri"/>
              <a:cs typeface="Calibri"/>
              <a:sym typeface="Calibri"/>
            </a:endParaRPr>
          </a:p>
        </p:txBody>
      </p:sp>
      <p:sp>
        <p:nvSpPr>
          <p:cNvPr id="367" name="Google Shape;367;p27"/>
          <p:cNvSpPr/>
          <p:nvPr/>
        </p:nvSpPr>
        <p:spPr>
          <a:xfrm>
            <a:off x="7789293" y="3005050"/>
            <a:ext cx="367800" cy="180600"/>
          </a:xfrm>
          <a:prstGeom prst="rightArrow">
            <a:avLst>
              <a:gd fmla="val 50000" name="adj1"/>
              <a:gd fmla="val 5000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68" name="Google Shape;368;p27"/>
          <p:cNvSpPr/>
          <p:nvPr/>
        </p:nvSpPr>
        <p:spPr>
          <a:xfrm>
            <a:off x="2583000" y="4637650"/>
            <a:ext cx="2466000" cy="1274400"/>
          </a:xfrm>
          <a:prstGeom prst="roundRect">
            <a:avLst>
              <a:gd fmla="val 1994" name="adj"/>
            </a:avLst>
          </a:prstGeom>
          <a:solidFill>
            <a:srgbClr val="FCFCF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rPr lang="en-US" sz="1500">
                <a:latin typeface="Calibri"/>
                <a:ea typeface="Calibri"/>
                <a:cs typeface="Calibri"/>
                <a:sym typeface="Calibri"/>
              </a:rPr>
              <a:t>Necessidade legal de provar como e porquê a decisão foi tomada.</a:t>
            </a:r>
            <a:endParaRPr sz="1500">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369" name="Google Shape;369;p27"/>
          <p:cNvSpPr/>
          <p:nvPr/>
        </p:nvSpPr>
        <p:spPr>
          <a:xfrm>
            <a:off x="2709300" y="4686400"/>
            <a:ext cx="2229300" cy="297300"/>
          </a:xfrm>
          <a:prstGeom prst="rect">
            <a:avLst/>
          </a:prstGeom>
          <a:solidFill>
            <a:srgbClr val="FCFCFC"/>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latin typeface="Calibri"/>
                <a:ea typeface="Calibri"/>
                <a:cs typeface="Calibri"/>
                <a:sym typeface="Calibri"/>
              </a:rPr>
              <a:t>O Problema:</a:t>
            </a:r>
            <a:endParaRPr b="1" sz="1600">
              <a:latin typeface="Calibri"/>
              <a:ea typeface="Calibri"/>
              <a:cs typeface="Calibri"/>
              <a:sym typeface="Calibri"/>
            </a:endParaRPr>
          </a:p>
        </p:txBody>
      </p:sp>
      <p:sp>
        <p:nvSpPr>
          <p:cNvPr id="370" name="Google Shape;370;p27"/>
          <p:cNvSpPr/>
          <p:nvPr/>
        </p:nvSpPr>
        <p:spPr>
          <a:xfrm>
            <a:off x="5901125" y="4637600"/>
            <a:ext cx="4538400" cy="1274400"/>
          </a:xfrm>
          <a:prstGeom prst="roundRect">
            <a:avLst>
              <a:gd fmla="val 1994" name="adj"/>
            </a:avLst>
          </a:prstGeom>
          <a:solidFill>
            <a:srgbClr val="FCFCF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rPr lang="en-US" sz="1500">
                <a:latin typeface="Calibri"/>
                <a:ea typeface="Calibri"/>
                <a:cs typeface="Calibri"/>
                <a:sym typeface="Calibri"/>
              </a:rPr>
              <a:t>Registo durável no motor Temporal (step-a-step) cruzado com logs estruturados (Loki/Grafana) unificados pelo Workflow ID.</a:t>
            </a:r>
            <a:endParaRPr sz="1500">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371" name="Google Shape;371;p27"/>
          <p:cNvSpPr/>
          <p:nvPr/>
        </p:nvSpPr>
        <p:spPr>
          <a:xfrm>
            <a:off x="6089450" y="4692675"/>
            <a:ext cx="4203300" cy="229200"/>
          </a:xfrm>
          <a:prstGeom prst="rect">
            <a:avLst/>
          </a:prstGeom>
          <a:solidFill>
            <a:srgbClr val="FCFCFC"/>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latin typeface="Calibri"/>
                <a:ea typeface="Calibri"/>
                <a:cs typeface="Calibri"/>
                <a:sym typeface="Calibri"/>
              </a:rPr>
              <a:t>O Mecanismo:</a:t>
            </a:r>
            <a:endParaRPr b="1" sz="1600">
              <a:latin typeface="Calibri"/>
              <a:ea typeface="Calibri"/>
              <a:cs typeface="Calibri"/>
              <a:sym typeface="Calibri"/>
            </a:endParaRPr>
          </a:p>
        </p:txBody>
      </p:sp>
      <p:sp>
        <p:nvSpPr>
          <p:cNvPr id="372" name="Google Shape;372;p27"/>
          <p:cNvSpPr/>
          <p:nvPr/>
        </p:nvSpPr>
        <p:spPr>
          <a:xfrm>
            <a:off x="5196191" y="5319250"/>
            <a:ext cx="574800" cy="180600"/>
          </a:xfrm>
          <a:prstGeom prst="rightArrow">
            <a:avLst>
              <a:gd fmla="val 50000" name="adj1"/>
              <a:gd fmla="val 5000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7" name="Shape 377"/>
        <p:cNvGrpSpPr/>
        <p:nvPr/>
      </p:nvGrpSpPr>
      <p:grpSpPr>
        <a:xfrm>
          <a:off x="0" y="0"/>
          <a:ext cx="0" cy="0"/>
          <a:chOff x="0" y="0"/>
          <a:chExt cx="0" cy="0"/>
        </a:xfrm>
      </p:grpSpPr>
      <p:sp>
        <p:nvSpPr>
          <p:cNvPr id="378" name="Google Shape;378;p28"/>
          <p:cNvSpPr/>
          <p:nvPr/>
        </p:nvSpPr>
        <p:spPr>
          <a:xfrm>
            <a:off x="548640" y="209550"/>
            <a:ext cx="11094300" cy="1162200"/>
          </a:xfrm>
          <a:prstGeom prst="roundRect">
            <a:avLst>
              <a:gd fmla="val 9836" name="adj"/>
            </a:avLst>
          </a:prstGeom>
          <a:solidFill>
            <a:srgbClr val="FCFCFC"/>
          </a:solidFill>
          <a:ln cap="flat" cmpd="sng" w="14300">
            <a:solidFill>
              <a:srgbClr val="F9F9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9" name="Google Shape;379;p28"/>
          <p:cNvSpPr txBox="1"/>
          <p:nvPr/>
        </p:nvSpPr>
        <p:spPr>
          <a:xfrm>
            <a:off x="548640" y="254800"/>
            <a:ext cx="11094300" cy="184800"/>
          </a:xfrm>
          <a:prstGeom prst="rect">
            <a:avLst/>
          </a:prstGeom>
          <a:solidFill>
            <a:srgbClr val="000000">
              <a:alpha val="0"/>
            </a:srgbClr>
          </a:solidFill>
          <a:ln>
            <a:noFill/>
          </a:ln>
        </p:spPr>
        <p:txBody>
          <a:bodyPr anchorCtr="0" anchor="t" bIns="0" lIns="142875" spcFirstLastPara="1" rIns="0" wrap="square" tIns="0">
            <a:spAutoFit/>
          </a:bodyPr>
          <a:lstStyle/>
          <a:p>
            <a:pPr indent="0" lvl="0" marL="0" rtl="0" algn="l">
              <a:spcBef>
                <a:spcPts val="0"/>
              </a:spcBef>
              <a:spcAft>
                <a:spcPts val="0"/>
              </a:spcAft>
              <a:buNone/>
            </a:pPr>
            <a:r>
              <a:t/>
            </a:r>
            <a:endParaRPr b="1" sz="1200">
              <a:solidFill>
                <a:srgbClr val="D97706"/>
              </a:solidFill>
              <a:latin typeface="Arial"/>
              <a:ea typeface="Arial"/>
              <a:cs typeface="Arial"/>
              <a:sym typeface="Arial"/>
            </a:endParaRPr>
          </a:p>
        </p:txBody>
      </p:sp>
      <p:sp>
        <p:nvSpPr>
          <p:cNvPr id="380" name="Google Shape;380;p28"/>
          <p:cNvSpPr/>
          <p:nvPr/>
        </p:nvSpPr>
        <p:spPr>
          <a:xfrm>
            <a:off x="691515" y="1257300"/>
            <a:ext cx="10808700" cy="19200"/>
          </a:xfrm>
          <a:prstGeom prst="rect">
            <a:avLst/>
          </a:prstGeom>
          <a:solidFill>
            <a:srgbClr val="D97706"/>
          </a:solidFill>
          <a:ln>
            <a:noFill/>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1" name="Google Shape;381;p28"/>
          <p:cNvSpPr/>
          <p:nvPr/>
        </p:nvSpPr>
        <p:spPr>
          <a:xfrm>
            <a:off x="548637" y="1587027"/>
            <a:ext cx="11094300" cy="4887300"/>
          </a:xfrm>
          <a:prstGeom prst="roundRect">
            <a:avLst>
              <a:gd fmla="val 5860" name="adj"/>
            </a:avLst>
          </a:prstGeom>
          <a:solidFill>
            <a:srgbClr val="FFFFFF">
              <a:alpha val="90000"/>
            </a:srgbClr>
          </a:solidFill>
          <a:ln>
            <a:noFill/>
          </a:ln>
          <a:effectLst>
            <a:outerShdw blurRad="150000" dir="5400000" dist="30000">
              <a:srgbClr val="000000">
                <a:alpha val="14900"/>
              </a:srgbClr>
            </a:outerShdw>
          </a:effectLst>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2" name="Google Shape;382;p28"/>
          <p:cNvSpPr txBox="1"/>
          <p:nvPr/>
        </p:nvSpPr>
        <p:spPr>
          <a:xfrm>
            <a:off x="2583000" y="5552050"/>
            <a:ext cx="20025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700">
              <a:solidFill>
                <a:schemeClr val="dk1"/>
              </a:solidFill>
              <a:latin typeface="Calibri"/>
              <a:ea typeface="Calibri"/>
              <a:cs typeface="Calibri"/>
              <a:sym typeface="Calibri"/>
            </a:endParaRPr>
          </a:p>
        </p:txBody>
      </p:sp>
      <p:sp>
        <p:nvSpPr>
          <p:cNvPr id="383" name="Google Shape;383;p28"/>
          <p:cNvSpPr/>
          <p:nvPr/>
        </p:nvSpPr>
        <p:spPr>
          <a:xfrm>
            <a:off x="1230425" y="2039399"/>
            <a:ext cx="9827700" cy="1739700"/>
          </a:xfrm>
          <a:prstGeom prst="roundRect">
            <a:avLst>
              <a:gd fmla="val 0" name="adj"/>
            </a:avLst>
          </a:prstGeom>
          <a:solidFill>
            <a:srgbClr val="D9D9D9"/>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84" name="Google Shape;384;p28"/>
          <p:cNvSpPr/>
          <p:nvPr/>
        </p:nvSpPr>
        <p:spPr>
          <a:xfrm>
            <a:off x="1089600" y="1928876"/>
            <a:ext cx="9827700" cy="1739700"/>
          </a:xfrm>
          <a:prstGeom prst="roundRect">
            <a:avLst>
              <a:gd fmla="val 0" name="adj"/>
            </a:avLst>
          </a:prstGeom>
          <a:solidFill>
            <a:srgbClr val="FCFCF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385" name="Google Shape;385;p28"/>
          <p:cNvSpPr/>
          <p:nvPr/>
        </p:nvSpPr>
        <p:spPr>
          <a:xfrm>
            <a:off x="2502400" y="2254200"/>
            <a:ext cx="7660800" cy="1086900"/>
          </a:xfrm>
          <a:prstGeom prst="rect">
            <a:avLst/>
          </a:prstGeom>
          <a:solidFill>
            <a:srgbClr val="FCFCFC"/>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2000">
                <a:latin typeface="Calibri"/>
                <a:ea typeface="Calibri"/>
                <a:cs typeface="Calibri"/>
                <a:sym typeface="Calibri"/>
              </a:rPr>
              <a:t>O Problema:</a:t>
            </a:r>
            <a:r>
              <a:rPr lang="en-US" sz="2000">
                <a:latin typeface="Calibri"/>
                <a:ea typeface="Calibri"/>
                <a:cs typeface="Calibri"/>
                <a:sym typeface="Calibri"/>
              </a:rPr>
              <a:t> Em sistemas altamente dependentes de LLMs, traçar fronteiras de responsabilidade </a:t>
            </a:r>
            <a:r>
              <a:rPr lang="en-US" sz="2000">
                <a:latin typeface="Calibri"/>
                <a:ea typeface="Calibri"/>
                <a:cs typeface="Calibri"/>
                <a:sym typeface="Calibri"/>
              </a:rPr>
              <a:t>explícitas</a:t>
            </a:r>
            <a:r>
              <a:rPr lang="en-US" sz="2000">
                <a:latin typeface="Calibri"/>
                <a:ea typeface="Calibri"/>
                <a:cs typeface="Calibri"/>
                <a:sym typeface="Calibri"/>
              </a:rPr>
              <a:t> face a </a:t>
            </a:r>
            <a:r>
              <a:rPr lang="en-US" sz="2000">
                <a:latin typeface="Calibri"/>
                <a:ea typeface="Calibri"/>
                <a:cs typeface="Calibri"/>
                <a:sym typeface="Calibri"/>
              </a:rPr>
              <a:t>dependências</a:t>
            </a:r>
            <a:r>
              <a:rPr lang="en-US" sz="2000">
                <a:latin typeface="Calibri"/>
                <a:ea typeface="Calibri"/>
                <a:cs typeface="Calibri"/>
                <a:sym typeface="Calibri"/>
              </a:rPr>
              <a:t> externas </a:t>
            </a:r>
            <a:r>
              <a:rPr lang="en-US" sz="2000">
                <a:latin typeface="Calibri"/>
                <a:ea typeface="Calibri"/>
                <a:cs typeface="Calibri"/>
                <a:sym typeface="Calibri"/>
              </a:rPr>
              <a:t>é uma decisão </a:t>
            </a:r>
            <a:r>
              <a:rPr lang="en-US" sz="2000">
                <a:latin typeface="Calibri"/>
                <a:ea typeface="Calibri"/>
                <a:cs typeface="Calibri"/>
                <a:sym typeface="Calibri"/>
              </a:rPr>
              <a:t>crítica</a:t>
            </a:r>
            <a:r>
              <a:rPr lang="en-US" sz="2000">
                <a:latin typeface="Calibri"/>
                <a:ea typeface="Calibri"/>
                <a:cs typeface="Calibri"/>
                <a:sym typeface="Calibri"/>
              </a:rPr>
              <a:t> de arquitetura, não apenas de operação.</a:t>
            </a:r>
            <a:endParaRPr sz="2000">
              <a:latin typeface="Calibri"/>
              <a:ea typeface="Calibri"/>
              <a:cs typeface="Calibri"/>
              <a:sym typeface="Calibri"/>
            </a:endParaRPr>
          </a:p>
        </p:txBody>
      </p:sp>
      <p:sp>
        <p:nvSpPr>
          <p:cNvPr id="386" name="Google Shape;386;p28"/>
          <p:cNvSpPr/>
          <p:nvPr/>
        </p:nvSpPr>
        <p:spPr>
          <a:xfrm>
            <a:off x="1089600" y="4225700"/>
            <a:ext cx="10029600" cy="1901100"/>
          </a:xfrm>
          <a:prstGeom prst="homePlate">
            <a:avLst>
              <a:gd fmla="val 50000" name="adj"/>
            </a:avLst>
          </a:prstGeom>
          <a:solidFill>
            <a:srgbClr val="CFE2F3"/>
          </a:solidFill>
          <a:ln cap="flat" cmpd="sng" w="38100">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7" name="Google Shape;387;p28"/>
          <p:cNvSpPr/>
          <p:nvPr/>
        </p:nvSpPr>
        <p:spPr>
          <a:xfrm>
            <a:off x="1794175" y="4446750"/>
            <a:ext cx="3435000" cy="1465200"/>
          </a:xfrm>
          <a:prstGeom prst="roundRect">
            <a:avLst>
              <a:gd fmla="val 1994" name="adj"/>
            </a:avLst>
          </a:prstGeom>
          <a:solidFill>
            <a:srgbClr val="FCFCF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sz="1500">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388" name="Google Shape;388;p28"/>
          <p:cNvSpPr/>
          <p:nvPr/>
        </p:nvSpPr>
        <p:spPr>
          <a:xfrm>
            <a:off x="1841375" y="4473925"/>
            <a:ext cx="3328800" cy="184800"/>
          </a:xfrm>
          <a:prstGeom prst="rect">
            <a:avLst/>
          </a:prstGeom>
          <a:solidFill>
            <a:srgbClr val="A2C4C9"/>
          </a:solidFill>
          <a:ln cap="flat" cmpd="sng" w="9525">
            <a:solidFill>
              <a:srgbClr val="45818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latin typeface="Calibri"/>
              <a:ea typeface="Calibri"/>
              <a:cs typeface="Calibri"/>
              <a:sym typeface="Calibri"/>
            </a:endParaRPr>
          </a:p>
        </p:txBody>
      </p:sp>
      <p:sp>
        <p:nvSpPr>
          <p:cNvPr id="389" name="Google Shape;389;p28"/>
          <p:cNvSpPr/>
          <p:nvPr/>
        </p:nvSpPr>
        <p:spPr>
          <a:xfrm>
            <a:off x="5570618" y="4446800"/>
            <a:ext cx="4143900" cy="1465200"/>
          </a:xfrm>
          <a:prstGeom prst="roundRect">
            <a:avLst>
              <a:gd fmla="val 1994" name="adj"/>
            </a:avLst>
          </a:prstGeom>
          <a:solidFill>
            <a:srgbClr val="FCFCF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t/>
            </a:r>
            <a:endParaRPr sz="1500">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pic>
        <p:nvPicPr>
          <p:cNvPr id="390" name="Google Shape;390;p28" title="circle-compass.png"/>
          <p:cNvPicPr preferRelativeResize="0"/>
          <p:nvPr/>
        </p:nvPicPr>
        <p:blipFill>
          <a:blip r:embed="rId4">
            <a:alphaModFix/>
          </a:blip>
          <a:stretch>
            <a:fillRect/>
          </a:stretch>
        </p:blipFill>
        <p:spPr>
          <a:xfrm>
            <a:off x="1335738" y="2422225"/>
            <a:ext cx="657225" cy="914400"/>
          </a:xfrm>
          <a:prstGeom prst="rect">
            <a:avLst/>
          </a:prstGeom>
          <a:noFill/>
          <a:ln>
            <a:noFill/>
          </a:ln>
        </p:spPr>
      </p:pic>
      <p:sp>
        <p:nvSpPr>
          <p:cNvPr id="391" name="Google Shape;391;p28"/>
          <p:cNvSpPr txBox="1"/>
          <p:nvPr/>
        </p:nvSpPr>
        <p:spPr>
          <a:xfrm>
            <a:off x="2714875" y="4716100"/>
            <a:ext cx="2408100" cy="108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300">
                <a:solidFill>
                  <a:schemeClr val="dk1"/>
                </a:solidFill>
                <a:latin typeface="Calibri"/>
                <a:ea typeface="Calibri"/>
                <a:cs typeface="Calibri"/>
                <a:sym typeface="Calibri"/>
              </a:rPr>
              <a:t>Resiliencia Regional: </a:t>
            </a:r>
            <a:r>
              <a:rPr lang="en-US" sz="1300">
                <a:solidFill>
                  <a:schemeClr val="dk1"/>
                </a:solidFill>
                <a:latin typeface="Calibri"/>
                <a:ea typeface="Calibri"/>
                <a:cs typeface="Calibri"/>
                <a:sym typeface="Calibri"/>
              </a:rPr>
              <a:t>Evoluir o cluster GKE atual (single-region) para uma topologia muti-region, mitigando quedas massivas da cloud.</a:t>
            </a:r>
            <a:endParaRPr sz="1300">
              <a:solidFill>
                <a:schemeClr val="dk1"/>
              </a:solidFill>
              <a:latin typeface="Calibri"/>
              <a:ea typeface="Calibri"/>
              <a:cs typeface="Calibri"/>
              <a:sym typeface="Calibri"/>
            </a:endParaRPr>
          </a:p>
        </p:txBody>
      </p:sp>
      <p:sp>
        <p:nvSpPr>
          <p:cNvPr id="392" name="Google Shape;392;p28"/>
          <p:cNvSpPr/>
          <p:nvPr/>
        </p:nvSpPr>
        <p:spPr>
          <a:xfrm>
            <a:off x="5629343" y="4494775"/>
            <a:ext cx="4026300" cy="184800"/>
          </a:xfrm>
          <a:prstGeom prst="rect">
            <a:avLst/>
          </a:prstGeom>
          <a:solidFill>
            <a:srgbClr val="FFE599"/>
          </a:solidFill>
          <a:ln cap="flat" cmpd="sng" w="9525">
            <a:solidFill>
              <a:srgbClr val="BF9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latin typeface="Calibri"/>
              <a:ea typeface="Calibri"/>
              <a:cs typeface="Calibri"/>
              <a:sym typeface="Calibri"/>
            </a:endParaRPr>
          </a:p>
        </p:txBody>
      </p:sp>
      <p:sp>
        <p:nvSpPr>
          <p:cNvPr id="393" name="Google Shape;393;p28"/>
          <p:cNvSpPr txBox="1"/>
          <p:nvPr/>
        </p:nvSpPr>
        <p:spPr>
          <a:xfrm>
            <a:off x="6775368" y="4714325"/>
            <a:ext cx="2832000" cy="108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300">
                <a:solidFill>
                  <a:schemeClr val="dk1"/>
                </a:solidFill>
                <a:latin typeface="Calibri"/>
                <a:ea typeface="Calibri"/>
                <a:cs typeface="Calibri"/>
                <a:sym typeface="Calibri"/>
              </a:rPr>
              <a:t>FinOps para IA:</a:t>
            </a:r>
            <a:r>
              <a:rPr lang="en-US" sz="1300">
                <a:solidFill>
                  <a:schemeClr val="dk1"/>
                </a:solidFill>
                <a:latin typeface="Calibri"/>
                <a:ea typeface="Calibri"/>
                <a:cs typeface="Calibri"/>
                <a:sym typeface="Calibri"/>
              </a:rPr>
              <a:t> Instrumentar observabilidade de telemetria dedicada especificamente ao custo de tokens por sinistro (alertas dinâmicos de orçamento).</a:t>
            </a:r>
            <a:endParaRPr sz="1300">
              <a:solidFill>
                <a:schemeClr val="dk1"/>
              </a:solidFill>
              <a:latin typeface="Calibri"/>
              <a:ea typeface="Calibri"/>
              <a:cs typeface="Calibri"/>
              <a:sym typeface="Calibri"/>
            </a:endParaRPr>
          </a:p>
        </p:txBody>
      </p:sp>
      <p:pic>
        <p:nvPicPr>
          <p:cNvPr id="394" name="Google Shape;394;p28" title="bar-chart.png"/>
          <p:cNvPicPr preferRelativeResize="0"/>
          <p:nvPr/>
        </p:nvPicPr>
        <p:blipFill>
          <a:blip r:embed="rId5">
            <a:alphaModFix/>
          </a:blip>
          <a:stretch>
            <a:fillRect/>
          </a:stretch>
        </p:blipFill>
        <p:spPr>
          <a:xfrm>
            <a:off x="5747398" y="5026179"/>
            <a:ext cx="747133" cy="653700"/>
          </a:xfrm>
          <a:prstGeom prst="rect">
            <a:avLst/>
          </a:prstGeom>
          <a:solidFill>
            <a:srgbClr val="FFFFFF">
              <a:alpha val="90000"/>
            </a:srgbClr>
          </a:solidFill>
          <a:ln>
            <a:noFill/>
          </a:ln>
          <a:effectLst>
            <a:outerShdw blurRad="150000" dir="5400000" dist="30000">
              <a:srgbClr val="000000">
                <a:alpha val="14900"/>
              </a:srgbClr>
            </a:outerShdw>
          </a:effectLst>
        </p:spPr>
      </p:pic>
      <p:pic>
        <p:nvPicPr>
          <p:cNvPr id="395" name="Google Shape;395;p28" title="global.png"/>
          <p:cNvPicPr preferRelativeResize="0"/>
          <p:nvPr/>
        </p:nvPicPr>
        <p:blipFill>
          <a:blip r:embed="rId6">
            <a:alphaModFix/>
          </a:blip>
          <a:stretch>
            <a:fillRect/>
          </a:stretch>
        </p:blipFill>
        <p:spPr>
          <a:xfrm>
            <a:off x="2044275" y="5270923"/>
            <a:ext cx="341350" cy="341350"/>
          </a:xfrm>
          <a:prstGeom prst="rect">
            <a:avLst/>
          </a:prstGeom>
          <a:noFill/>
          <a:ln>
            <a:noFill/>
          </a:ln>
        </p:spPr>
      </p:pic>
      <p:pic>
        <p:nvPicPr>
          <p:cNvPr id="396" name="Google Shape;396;p28" title="coin-dollar.png"/>
          <p:cNvPicPr preferRelativeResize="0"/>
          <p:nvPr/>
        </p:nvPicPr>
        <p:blipFill>
          <a:blip r:embed="rId7">
            <a:alphaModFix/>
          </a:blip>
          <a:stretch>
            <a:fillRect/>
          </a:stretch>
        </p:blipFill>
        <p:spPr>
          <a:xfrm>
            <a:off x="6405141" y="5470364"/>
            <a:ext cx="297300" cy="297300"/>
          </a:xfrm>
          <a:prstGeom prst="rect">
            <a:avLst/>
          </a:prstGeom>
          <a:solidFill>
            <a:srgbClr val="FCFCFC"/>
          </a:solidFill>
          <a:ln>
            <a:noFill/>
          </a:ln>
        </p:spPr>
      </p:pic>
      <p:pic>
        <p:nvPicPr>
          <p:cNvPr id="397" name="Google Shape;397;p28" title="cloud1.png"/>
          <p:cNvPicPr preferRelativeResize="0"/>
          <p:nvPr/>
        </p:nvPicPr>
        <p:blipFill>
          <a:blip r:embed="rId8">
            <a:alphaModFix/>
          </a:blip>
          <a:stretch>
            <a:fillRect/>
          </a:stretch>
        </p:blipFill>
        <p:spPr>
          <a:xfrm>
            <a:off x="1841375" y="4943548"/>
            <a:ext cx="747150" cy="507900"/>
          </a:xfrm>
          <a:prstGeom prst="rect">
            <a:avLst/>
          </a:prstGeom>
          <a:noFill/>
          <a:ln>
            <a:noFill/>
          </a:ln>
        </p:spPr>
      </p:pic>
      <p:sp>
        <p:nvSpPr>
          <p:cNvPr id="398" name="Google Shape;398;p28"/>
          <p:cNvSpPr txBox="1"/>
          <p:nvPr/>
        </p:nvSpPr>
        <p:spPr>
          <a:xfrm>
            <a:off x="548640" y="476250"/>
            <a:ext cx="11094300" cy="738900"/>
          </a:xfrm>
          <a:prstGeom prst="rect">
            <a:avLst/>
          </a:prstGeom>
          <a:solidFill>
            <a:srgbClr val="000000">
              <a:alpha val="0"/>
            </a:srgbClr>
          </a:solidFill>
          <a:ln>
            <a:noFill/>
          </a:ln>
        </p:spPr>
        <p:txBody>
          <a:bodyPr anchorCtr="0" anchor="ctr" bIns="0" lIns="142875" spcFirstLastPara="1" rIns="142875" wrap="square" tIns="0">
            <a:spAutoFit/>
          </a:bodyPr>
          <a:lstStyle/>
          <a:p>
            <a:pPr indent="0" lvl="0" marL="0" rtl="0" algn="l">
              <a:spcBef>
                <a:spcPts val="0"/>
              </a:spcBef>
              <a:spcAft>
                <a:spcPts val="0"/>
              </a:spcAft>
              <a:buClr>
                <a:schemeClr val="dk1"/>
              </a:buClr>
              <a:buFont typeface="Arial"/>
              <a:buNone/>
            </a:pPr>
            <a:r>
              <a:rPr b="1" lang="en-US" sz="2400">
                <a:solidFill>
                  <a:srgbClr val="1E293B"/>
                </a:solidFill>
                <a:latin typeface="Georgia"/>
                <a:ea typeface="Georgia"/>
                <a:cs typeface="Georgia"/>
                <a:sym typeface="Georgia"/>
              </a:rPr>
              <a:t>Conclusão e Próximos </a:t>
            </a:r>
            <a:endParaRPr b="1" sz="2400">
              <a:solidFill>
                <a:srgbClr val="1E293B"/>
              </a:solidFill>
              <a:latin typeface="Georgia"/>
              <a:ea typeface="Georgia"/>
              <a:cs typeface="Georgia"/>
              <a:sym typeface="Georgia"/>
            </a:endParaRPr>
          </a:p>
          <a:p>
            <a:pPr indent="0" lvl="0" marL="0" rtl="0" algn="l">
              <a:spcBef>
                <a:spcPts val="0"/>
              </a:spcBef>
              <a:spcAft>
                <a:spcPts val="0"/>
              </a:spcAft>
              <a:buClr>
                <a:schemeClr val="dk1"/>
              </a:buClr>
              <a:buFont typeface="Arial"/>
              <a:buNone/>
            </a:pPr>
            <a:r>
              <a:rPr b="1" lang="en-US" sz="2400">
                <a:solidFill>
                  <a:srgbClr val="1E293B"/>
                </a:solidFill>
                <a:latin typeface="Georgia"/>
                <a:ea typeface="Georgia"/>
                <a:cs typeface="Georgia"/>
                <a:sym typeface="Georgia"/>
              </a:rPr>
              <a:t>Passos</a:t>
            </a:r>
            <a:endParaRPr b="1" sz="2400">
              <a:solidFill>
                <a:srgbClr val="1E293B"/>
              </a:solidFill>
              <a:latin typeface="Georgia"/>
              <a:ea typeface="Georgia"/>
              <a:cs typeface="Georgia"/>
              <a:sym typeface="Georgi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3" name="Shape 403"/>
        <p:cNvGrpSpPr/>
        <p:nvPr/>
      </p:nvGrpSpPr>
      <p:grpSpPr>
        <a:xfrm>
          <a:off x="0" y="0"/>
          <a:ext cx="0" cy="0"/>
          <a:chOff x="0" y="0"/>
          <a:chExt cx="0" cy="0"/>
        </a:xfrm>
      </p:grpSpPr>
      <p:sp>
        <p:nvSpPr>
          <p:cNvPr id="404" name="Google Shape;404;p29"/>
          <p:cNvSpPr txBox="1"/>
          <p:nvPr/>
        </p:nvSpPr>
        <p:spPr>
          <a:xfrm>
            <a:off x="1333500" y="2095500"/>
            <a:ext cx="9525000" cy="1428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4800">
                <a:solidFill>
                  <a:srgbClr val="D97706"/>
                </a:solidFill>
                <a:latin typeface="Georgia"/>
                <a:ea typeface="Georgia"/>
                <a:cs typeface="Georgia"/>
                <a:sym typeface="Georgia"/>
              </a:rPr>
              <a:t>Obrigado!</a:t>
            </a:r>
            <a:endParaRPr b="1" sz="4800">
              <a:solidFill>
                <a:srgbClr val="D97706"/>
              </a:solidFill>
              <a:latin typeface="Georgia"/>
              <a:ea typeface="Georgia"/>
              <a:cs typeface="Georgia"/>
              <a:sym typeface="Georgia"/>
            </a:endParaRPr>
          </a:p>
        </p:txBody>
      </p:sp>
      <p:sp>
        <p:nvSpPr>
          <p:cNvPr id="405" name="Google Shape;405;p29"/>
          <p:cNvSpPr/>
          <p:nvPr/>
        </p:nvSpPr>
        <p:spPr>
          <a:xfrm>
            <a:off x="1333500" y="3619500"/>
            <a:ext cx="3810000" cy="19200"/>
          </a:xfrm>
          <a:prstGeom prst="rect">
            <a:avLst/>
          </a:prstGeom>
          <a:solidFill>
            <a:srgbClr val="D9770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6" name="Google Shape;406;p29"/>
          <p:cNvSpPr txBox="1"/>
          <p:nvPr/>
        </p:nvSpPr>
        <p:spPr>
          <a:xfrm>
            <a:off x="1333500" y="3905250"/>
            <a:ext cx="9525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F1F5F9"/>
                </a:solidFill>
                <a:latin typeface="Arial"/>
                <a:ea typeface="Arial"/>
                <a:cs typeface="Arial"/>
                <a:sym typeface="Arial"/>
              </a:rPr>
              <a:t>RelatoSeg</a:t>
            </a:r>
            <a:endParaRPr b="1" sz="1600">
              <a:solidFill>
                <a:srgbClr val="F1F5F9"/>
              </a:solidFill>
              <a:latin typeface="Arial"/>
              <a:ea typeface="Arial"/>
              <a:cs typeface="Arial"/>
              <a:sym typeface="Arial"/>
            </a:endParaRPr>
          </a:p>
          <a:p>
            <a:pPr indent="0" lvl="0" marL="0" rtl="0" algn="l">
              <a:spcBef>
                <a:spcPts val="600"/>
              </a:spcBef>
              <a:spcAft>
                <a:spcPts val="0"/>
              </a:spcAft>
              <a:buNone/>
            </a:pPr>
            <a:r>
              <a:rPr lang="en-US">
                <a:solidFill>
                  <a:srgbClr val="F1F5F9"/>
                </a:solidFill>
              </a:rPr>
              <a:t>Aluno: José Ribamar Bacelar Netto</a:t>
            </a:r>
            <a:br>
              <a:rPr lang="en-US">
                <a:solidFill>
                  <a:srgbClr val="F1F5F9"/>
                </a:solidFill>
              </a:rPr>
            </a:br>
            <a:r>
              <a:rPr lang="en-US">
                <a:solidFill>
                  <a:srgbClr val="F1F5F9"/>
                </a:solidFill>
              </a:rPr>
              <a:t>e-mail: bacelar.netto.analista@gmail.com</a:t>
            </a:r>
            <a:endParaRPr b="0" sz="1300">
              <a:solidFill>
                <a:srgbClr val="64748B"/>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